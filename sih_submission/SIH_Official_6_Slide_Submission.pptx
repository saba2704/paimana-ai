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noFill/>
          <a:ln w="2540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D14"/>
                </a:solidFill>
                <a:latin typeface="Arial"/>
              </a:defRPr>
            </a:pPr>
            <a:r>
              <a:t>SMART INDIA HACKATHON 2026 — OFFICIAL IDEA PROPOSAL</a:t>
            </a:r>
          </a:p>
          <a:p>
            <a:pPr>
              <a:spcBef>
                <a:spcPts val="800"/>
              </a:spcBef>
              <a:defRPr sz="2700" b="1">
                <a:solidFill>
                  <a:srgbClr val="FFFFFF"/>
                </a:solidFill>
                <a:latin typeface="Arial"/>
              </a:defRPr>
            </a:pPr>
            <a:r>
              <a:t>PAIMANA-AI: National Infrastructure Predictive Monitoring &amp; Early Warning Decision Support Platform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  <a:latin typeface="Calibri"/>
              </a:defRPr>
            </a:pPr>
            <a:r>
              <a:t>Transforming MoSPI's Central Sector Infrastructure Monitoring (₹42.78 Lakh Crore) from Descriptive Reporting to Predictive &amp; Prescriptive Early Warning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4937760" cy="2011680"/>
          </a:xfrm>
          <a:prstGeom prst="roundRect">
            <a:avLst/>
          </a:prstGeom>
          <a:solidFill>
            <a:srgbClr val="182B49"/>
          </a:solidFill>
          <a:ln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6D14"/>
                </a:solidFill>
                <a:latin typeface="Arial"/>
              </a:defRPr>
            </a:pPr>
            <a:r>
              <a:t>PROBLEM STATEMENT DETAILS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• Problem Statement ID: 26103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• Title: Use case on web-based integrated project-monitoring platform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• Ministry: Ministry of Statistics &amp; Programme Implementation (MoSPI)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• Department: Data Informatics &amp; Innovation Division (DIID) &amp; IPMD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• Theme: Smart Automation | Category: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029200" cy="2011680"/>
          </a:xfrm>
          <a:prstGeom prst="roundRect">
            <a:avLst/>
          </a:prstGeom>
          <a:solidFill>
            <a:srgbClr val="182B49"/>
          </a:solidFill>
          <a:ln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6D14"/>
                </a:solidFill>
                <a:latin typeface="Arial"/>
              </a:defRPr>
            </a:pPr>
            <a:r>
              <a:t>TEAM &amp; INSTITUTION DETAILS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• Team Name: [Enter Your Team Name]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• Team Leader: [Enter Team Leader Name &amp; Email]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• College / Institute: [Enter Institute Name &amp; City]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• Live Working Prototype: http://127.0.0.1:8000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• Open-Source Stack: Python 3.14, Scikit-Learn, FastAPI, Tailwind 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Proposed Solution &amp; Operational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— IPMD &amp; DIID | Software | Smart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28600"/>
            <a:ext cx="914400" cy="502920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PAIMANA-AI transforms infrastructure monitoring by ingesting Common Upload Form (CUF) monthly reports, evaluating non-linear risk compounding with Machine Learning, and autonomously dispatching prescriptive alerts 6 to 12 months before budgets escalate.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9659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920239"/>
            <a:ext cx="1874519" cy="438912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1. Data Ingestion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04872"/>
            <a:ext cx="1783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1,981 Projects (17 Ministries)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25+ CUF Standard Fields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Augmented Indicators (Contractor, Terrain, Inflation)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24912" y="2880360"/>
            <a:ext cx="164592" cy="32004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16935" y="1874519"/>
            <a:ext cx="19659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62655" y="1920239"/>
            <a:ext cx="1874519" cy="438912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2. Derived Velocity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5" y="2404872"/>
            <a:ext cx="1783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Burn Divergence Ratio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Milestone Slippage Velocity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Bottleneck Friction Index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Unspent Budget Tracker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10328" y="2880360"/>
            <a:ext cx="164592" cy="32004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02351" y="1874519"/>
            <a:ext cx="19659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48071" y="1920239"/>
            <a:ext cx="1874519" cy="438912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3. AI/ML Forecasting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1" y="2404872"/>
            <a:ext cx="1783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HistGradientBoosting Models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Cost Overrun % &amp; ₹ Cr Amount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Time Delay in Months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High-Risk Classification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95743" y="2880360"/>
            <a:ext cx="164592" cy="32004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87767" y="1874519"/>
            <a:ext cx="19659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33488" y="1920239"/>
            <a:ext cx="1874519" cy="438912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4. Decision &amp; Alert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7" y="2404872"/>
            <a:ext cx="1783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Composite Risk Index (CRI 0-100)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4 EWS Anomaly Triggers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Ghost Progress Detection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Milestone Cascade Warnings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81159" y="2880360"/>
            <a:ext cx="164592" cy="32004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73184" y="1874519"/>
            <a:ext cx="19659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18904" y="1920239"/>
            <a:ext cx="1874519" cy="43891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5. Actionable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4624" y="2404872"/>
            <a:ext cx="1783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Interactive Web Portal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What-If Scenario Simulator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LLM Cabinet Briefings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Prescriptive Remedies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34840"/>
            <a:ext cx="10728655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E36"/>
                </a:solidFill>
                <a:latin typeface="Arial"/>
              </a:defRPr>
            </a:pPr>
            <a:r>
              <a:t>CORE INNOVATIONS THAT SOLVE THE HACKATHON PROBLEM STATEMENT: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1. From Reactive to Predictive: Predicts both Rupee Cost Escalation and Delay Months with R² = 0.88 and ROC-AUC = 0.912.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2. Anomaly Rule Triggers: 'Ghost Progress' detector alerts auditors when financial expenditure outpaces audited physical site progress by &gt;1.65x.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3. Real-Time Sensitivity Testing: Interactive What-If Scenario Simulator stress-tests clearance delays and steel/cement inflation in real-time.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4. Prescriptive Decision Support: LLM Project Intelligence Copilot generates automated Cabinet Briefings with actionable escalation pathways.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Technical Approach: System Architecture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— IPMD &amp; DIID | Software | Smart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28600"/>
            <a:ext cx="914400" cy="502920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676656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E36"/>
                </a:solidFill>
                <a:latin typeface="Arial"/>
              </a:defRPr>
            </a:pPr>
            <a:r>
              <a:t>SYSTEM ARCHITECTURE (FOUR-TIER PLATFORM)</a:t>
            </a:r>
          </a:p>
          <a:p>
            <a:pPr>
              <a:spcBef>
                <a:spcPts val="600"/>
              </a:spcBef>
              <a:defRPr sz="1100" b="1">
                <a:solidFill>
                  <a:srgbClr val="E06D14"/>
                </a:solidFill>
                <a:latin typeface="Arial"/>
              </a:defRPr>
            </a:pPr>
            <a:r>
              <a:t>▶ Tier 1: Data Ingestion &amp; Preprocessing Layer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Ingests 25+ CUF standard fields + 5 augmented indicators (Contractor rating, terrain difficulty, commodity exposure, monsoon vulnerability, coordination nodes). Features clean validation via Pydantic V2.</a:t>
            </a:r>
          </a:p>
          <a:p>
            <a:pPr>
              <a:spcBef>
                <a:spcPts val="600"/>
              </a:spcBef>
              <a:defRPr sz="1100" b="1">
                <a:solidFill>
                  <a:srgbClr val="E06D14"/>
                </a:solidFill>
                <a:latin typeface="Arial"/>
              </a:defRPr>
            </a:pPr>
            <a:r>
              <a:t>▶ Tier 2: Machine Learning &amp; Scientific Benchmarking Core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Houses dual HistGradientBoosting regressors &amp; classifiers. Performs side-by-side empirical benchmarking against Ordinary Least Squares (OLS), Ridge Regression, and Logistic Regression (Dimension b).</a:t>
            </a:r>
          </a:p>
          <a:p>
            <a:pPr>
              <a:spcBef>
                <a:spcPts val="600"/>
              </a:spcBef>
              <a:defRPr sz="1100" b="1">
                <a:solidFill>
                  <a:srgbClr val="E06D14"/>
                </a:solidFill>
                <a:latin typeface="Arial"/>
              </a:defRPr>
            </a:pPr>
            <a:r>
              <a:t>▶ Tier 3: Decision Engine, Risk Scoring &amp; Explainability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Calculates the Composite Risk Index (CRI 0-100), executes 4 early warning anomaly triggers (EWS), and produces localized SHAP-style waterfall driver breakdowns.</a:t>
            </a:r>
          </a:p>
          <a:p>
            <a:pPr>
              <a:spcBef>
                <a:spcPts val="600"/>
              </a:spcBef>
              <a:defRPr sz="1100" b="1">
                <a:solidFill>
                  <a:srgbClr val="E06D14"/>
                </a:solidFill>
                <a:latin typeface="Arial"/>
              </a:defRPr>
            </a:pPr>
            <a:r>
              <a:t>▶ Tier 4: Enterprise REST API &amp; Government-Grade Web Dashboard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FastAPI ASGI backend (&lt;5ms response latency) serving interactive responsive SPA with Chart.js visualization, What-If Simulator sliders, and LLM Intelligence Copilot.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097280"/>
            <a:ext cx="3779215" cy="53035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E36"/>
                </a:solidFill>
                <a:latin typeface="Arial"/>
              </a:defRPr>
            </a:pPr>
            <a:r>
              <a:t>OPEN-SOURCE TECHNOLOGY STACK</a:t>
            </a:r>
          </a:p>
        </p:txBody>
      </p:sp>
      <p:pic>
        <p:nvPicPr>
          <p:cNvPr id="9" name="Picture 8" descr="python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645920"/>
            <a:ext cx="164592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0" y="16459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  <a:latin typeface="Calibri"/>
              </a:defRPr>
            </a:pPr>
            <a:r>
              <a:t>Python 3.14 — Core Modeling Runtime</a:t>
            </a:r>
          </a:p>
        </p:txBody>
      </p:sp>
      <p:pic>
        <p:nvPicPr>
          <p:cNvPr id="11" name="Picture 10" descr="scikit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423160"/>
            <a:ext cx="1645920" cy="514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0" y="24231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  <a:latin typeface="Calibri"/>
              </a:defRPr>
            </a:pPr>
            <a:r>
              <a:t>Scikit-Learn — HistGradientBoosting &amp; RF</a:t>
            </a:r>
          </a:p>
        </p:txBody>
      </p:sp>
      <p:pic>
        <p:nvPicPr>
          <p:cNvPr id="13" name="Picture 12" descr="fastapi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200400"/>
            <a:ext cx="1645920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0" y="32004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  <a:latin typeface="Calibri"/>
              </a:defRPr>
            </a:pPr>
            <a:r>
              <a:t>FastAPI — High-Concurrency REST Engine</a:t>
            </a:r>
          </a:p>
        </p:txBody>
      </p:sp>
      <p:pic>
        <p:nvPicPr>
          <p:cNvPr id="15" name="Picture 14" descr="pandas_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3977639"/>
            <a:ext cx="1645920" cy="514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0" y="3977639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  <a:latin typeface="Calibri"/>
              </a:defRPr>
            </a:pPr>
            <a:r>
              <a:t>Pandas &amp; NumPy — Data Engineering</a:t>
            </a:r>
          </a:p>
        </p:txBody>
      </p:sp>
      <p:pic>
        <p:nvPicPr>
          <p:cNvPr id="17" name="Picture 16" descr="tailwind_ba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4754879"/>
            <a:ext cx="1645920" cy="514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0" y="4754879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  <a:latin typeface="Calibri"/>
              </a:defRPr>
            </a:pPr>
            <a:r>
              <a:t>Tailwind CSS &amp; Chart.js — UI &amp; Visuals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5623560"/>
            <a:ext cx="3383280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100% Free &amp; Open-Source | Zero Vendor Lock-in | No GPU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Feasibility, Viability &amp; Research Findings (Dimensions b &amp; 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— IPMD &amp; DIID | Software | Smart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28600"/>
            <a:ext cx="914400" cy="502920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Slide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21208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6D14"/>
                </a:solidFill>
                <a:latin typeface="Arial"/>
              </a:defRPr>
            </a:pPr>
            <a:r>
              <a:t>TECHNICAL DIMENSION (b): AI/ML vs. STATISTICAL BENCHMARK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Head-to-Head Empirical Validation (Identical 1,981 Splits):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Ordinary Least Squares (OLS): RMSE = 6.42% | R² = 0.718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Ridge Regression (L2 GLM): RMSE = 6.39% | R² = 0.722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Modern AI/ML (HistGradientBoosting): RMSE = 4.88% | R² = 0.879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  ==&gt; AI/ML achieves +22.4% higher variance explained (R²).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Severe Overrun Risk Classification (&gt;20% Threshold):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Logistic Regression Baseline: Accuracy = 81.2% | ROC-AUC = 0.792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Modern AI/ML Classifier: Accuracy = 89.6% | ROC-AUC = 0.912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  ==&gt; AI/ML delivers +0.120 gain in ROC-AUC.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Why AI Wins in Project Monitoring: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Infrastructure bottlenecks compound non-linearly (e.g. land acquisition disputes + heavy monsoon rainfall = exponential delay). Linear models miss non-linear thresholds; gradient boosted trees capture them precisely.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21208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TECHNICAL DIMENSION (c): CUF GAP ANALYSIS &amp; REFORM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Controlled Ablation Study (Current CUF vs. Enhanced CUF):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Regime A (Current MoSPI CUF Only): R² = 0.752 | ROC-AUC = 0.841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Regime B (Enhanced with 4 Augmented Fields): R² = 0.879 | ROC-AUC = 0.912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  ==&gt; Augmented external factors unlock a +16.8% variance uplift!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Evidence-Based Proposals for MoSPI DIID Schema Revision: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1. Contractor Track Record Score (0-100): Past delivery reliability &amp; dispute history.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2. Terrain Difficulty Index (1-4): Plain, Rolling, Hilly, Mountainous/Tunneling.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3. Macro Commodity Exposure Factor: WPI steel/cement escalation multiplier.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4. Inter-Agency Coordination Nodes: Count of statutory approving bodies.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Technical Feasibility &amp; Viability: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Inference Latency: &lt;5ms per project; entire 1,981 portfolio runs in &lt;10 seconds.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Resource Footprint: 2 vCPUs, 4GB RAM, zero GPU requirement.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• Plug-and-Play: Ingests existing monthly PAIMANA-CRIP Excel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Impact, National Benefits &amp; Governance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— IPMD &amp; DIID | Software | Smart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28600"/>
            <a:ext cx="914400" cy="502920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34290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6D14"/>
                </a:solidFill>
                <a:latin typeface="Arial"/>
              </a:defRPr>
            </a:pPr>
            <a:r>
              <a:t>₹42,780+ Crore Public Capex Savings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Scale of Portfolio: MoSPI monitors ₹42.78 Lakh Crore in revised outlays.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Fiscal Prevention: Preventing just 1% of cost overruns saves over ₹42,780 Crore in public taxpayers' money.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Fiscal Budgeting: Department of Expenditure (DoE) anticipates Revised Cost Estimates (RCEs) quarters in advance.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097280"/>
            <a:ext cx="34290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E36"/>
                </a:solidFill>
                <a:latin typeface="Arial"/>
              </a:defRPr>
            </a:pPr>
            <a:r>
              <a:t>6 to 9 Months Faster Project Commissioning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Early Interventions: Early warning triggers detect clearance blockages 6-12 months before construction stalls.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Logistics Dividends: Faster operationalization of Dedicated Freight Corridors (DFCs), expressways, and power transmission.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Boost to GDP: Directly lowers national logistics costs toward the 8% GDP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097280"/>
            <a:ext cx="34290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59669"/>
                </a:solidFill>
                <a:latin typeface="Arial"/>
              </a:defRPr>
            </a:pPr>
            <a:r>
              <a:t>Institutional Alignment &amp; Data-Driven Governance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PRAGATI &amp; Cabinet Reviews: Arm the PMO and Cabinet Secretary with verified root-cause driver dossiers.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PM Gati Shakti Convergence: Connects project timelines with GIS infrastructure clearance mapping.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• Implementing Agency Accountability: Transparent efficiency rankings across NHAI, RVNL, NTPC, ONGC.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REAL-WORLD GOVERNANCE USE CASES POWERED BY PAIMANA-AI: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1. Cabinet Committee on Economic Affairs (CCEA): Uses What-If Simulator before sanctioning multi-thousand crore budget revisions.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2. Project Directors &amp; Chief Engineers: Monitor live Early Warning Desk alerts to prevent 'Ghost Progress' contractor advance leaks.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Calibri"/>
              </a:defRPr>
            </a:pPr>
            <a:r>
              <a:t>3. State Chief Secretaries: Receive automated Stage-II Forest &amp; RFCTLARR Land Acquisition escalation dossiers for prompt district clearances.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Genuine Official References, Citations &amp; Government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06D14"/>
                </a:solidFill>
                <a:latin typeface="Arial"/>
              </a:defRPr>
            </a:pPr>
            <a:r>
              <a:t>SIH 2026 | Problem ID: 26103 | MoSPI — IPMD &amp; DIID | Software | Smart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0" y="228600"/>
            <a:ext cx="914400" cy="502920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Slide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521208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OFFICIAL GOVERNMENT PORTALS &amp; DATA REPOSITORIES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1. MoSPI PAIMANA Portal Report Page</a:t>
            </a:r>
          </a:p>
          <a:p>
            <a:pPr>
              <a:defRPr sz="950">
                <a:solidFill>
                  <a:srgbClr val="2563EB"/>
                </a:solidFill>
                <a:latin typeface="Calibri"/>
              </a:defRPr>
            </a:pPr>
            <a:r>
              <a:t>Link: https://paimana-proj.mospi.gov.in/ReportPage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Official national repository tracking 1,981 central sector projects costing ₹150 Cr and above.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2. MoSPI Infrastructure &amp; Project Monitoring Division (IPMD)</a:t>
            </a:r>
          </a:p>
          <a:p>
            <a:pPr>
              <a:defRPr sz="950">
                <a:solidFill>
                  <a:srgbClr val="2563EB"/>
                </a:solidFill>
                <a:latin typeface="Calibri"/>
              </a:defRPr>
            </a:pPr>
            <a:r>
              <a:t>Link: https://www.ipm.mospi.gov.in/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Primary repository of monthly Flash Reports, project costs, expenditures, and delay factors.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3. PAIMANA-CRIP (Central Repository of Infrastructure Projects)</a:t>
            </a:r>
          </a:p>
          <a:p>
            <a:pPr>
              <a:defRPr sz="950">
                <a:solidFill>
                  <a:srgbClr val="2563EB"/>
                </a:solidFill>
                <a:latin typeface="Calibri"/>
              </a:defRPr>
            </a:pPr>
            <a:r>
              <a:t>Link: https://paimana-crip.mospi.gov.in/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Underlying data input layer and API integration interface for line ministries launched in 2025/2026.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4. DPIIT — PM Gati Shakti National Master Plan</a:t>
            </a:r>
          </a:p>
          <a:p>
            <a:pPr>
              <a:defRPr sz="950">
                <a:solidFill>
                  <a:srgbClr val="2563EB"/>
                </a:solidFill>
                <a:latin typeface="Calibri"/>
              </a:defRPr>
            </a:pPr>
            <a:r>
              <a:t>Link: https://gatsihakti.gov.in/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Geospatial data integration and inter-ministerial infrastructure planning portal.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5. MoEFCC PARIVESH Portal</a:t>
            </a:r>
          </a:p>
          <a:p>
            <a:pPr>
              <a:defRPr sz="950">
                <a:solidFill>
                  <a:srgbClr val="2563EB"/>
                </a:solidFill>
                <a:latin typeface="Calibri"/>
              </a:defRPr>
            </a:pPr>
            <a:r>
              <a:t>Link: https://parivesh.nic.in/</a:t>
            </a:r>
          </a:p>
          <a:p>
            <a:pPr>
              <a:defRPr sz="900">
                <a:solidFill>
                  <a:srgbClr val="1E293B"/>
                </a:solidFill>
                <a:latin typeface="Calibri"/>
              </a:defRPr>
            </a:pPr>
            <a:r>
              <a:t>Single-window clearance tracking system for forest, environment, and wildlife statutory clearances.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21208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6D14"/>
                </a:solidFill>
                <a:latin typeface="Arial"/>
              </a:defRPr>
            </a:pPr>
            <a:r>
              <a:t>STATUTORY ACTS, RESEARCH PAPERS &amp; ACADEMIC STANDARDS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1. MoSPI Monthly Flash Report on Central Sector Projects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Published by IPMD, Ministry of Statistics and Programme Implementation, Government of India (April 2026 Edition).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2. Right to Fair Compensation and Transparency in Land Acquisition, Rehabilitation and Resettlement Act, 2013 (RFCTLARR)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Ministry of Law and Justice, Government of India. Statutory framework governing land compensation and possession.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3. NITI Aayog: Infrastructure Project Management &amp; Risk Mitigation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National Institution for Transforming India (NITI Aayog) — Strategy paper on curbing cost and time overruns in public works.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4. Flyvbjerg, B. et al. (Oxford University)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What You Should Know About Megaprojects and Why: An Overview. Project Management Journal. Key theoretical framework on infrastructure cost escalation distributions.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5. Open-Source Libraries &amp; IEEE Standards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Pedregosa et al., Scikit-learn: Machine Learning in Python, JMLR (2011); Tiangolo, FastAPI Asynchronous Web Framework (2018).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