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0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ba2704/Paimana-A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paimana-ai-4ull.onrender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imana-ai-4ull.onrender.com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Problem Statement ID: </a:t>
            </a:r>
            <a:r>
              <a:rPr dirty="0">
                <a:solidFill>
                  <a:srgbClr val="1E293B"/>
                </a:solidFill>
                <a:latin typeface="Calibri"/>
              </a:rPr>
              <a:t>26103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Problem Statement Title: </a:t>
            </a:r>
            <a:r>
              <a:rPr dirty="0">
                <a:solidFill>
                  <a:srgbClr val="1E293B"/>
                </a:solidFill>
                <a:latin typeface="Calibri"/>
              </a:rPr>
              <a:t>Use case on web-based integrated project-monitoring platform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Theme: </a:t>
            </a:r>
            <a:r>
              <a:rPr dirty="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PS Category: </a:t>
            </a:r>
            <a:r>
              <a:rPr dirty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Ministry: </a:t>
            </a:r>
            <a:r>
              <a:rPr dirty="0">
                <a:solidFill>
                  <a:srgbClr val="1E293B"/>
                </a:solidFill>
                <a:latin typeface="Calibri"/>
              </a:rPr>
              <a:t>Ministry of Statistics and </a:t>
            </a:r>
            <a:r>
              <a:rPr dirty="0" err="1">
                <a:solidFill>
                  <a:srgbClr val="1E293B"/>
                </a:solidFill>
                <a:latin typeface="Calibri"/>
              </a:rPr>
              <a:t>Programme</a:t>
            </a:r>
            <a:r>
              <a:rPr dirty="0">
                <a:solidFill>
                  <a:srgbClr val="1E293B"/>
                </a:solidFill>
                <a:latin typeface="Calibri"/>
              </a:rPr>
              <a:t> Implementation (</a:t>
            </a:r>
            <a:r>
              <a:rPr dirty="0" err="1">
                <a:solidFill>
                  <a:srgbClr val="1E293B"/>
                </a:solidFill>
                <a:latin typeface="Calibri"/>
              </a:rPr>
              <a:t>MoSPI</a:t>
            </a:r>
            <a:r>
              <a:rPr dirty="0">
                <a:solidFill>
                  <a:srgbClr val="1E293B"/>
                </a:solidFill>
                <a:latin typeface="Calibri"/>
              </a:rPr>
              <a:t>)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Department: </a:t>
            </a:r>
            <a:r>
              <a:rPr dirty="0">
                <a:solidFill>
                  <a:srgbClr val="1E293B"/>
                </a:solidFill>
                <a:latin typeface="Calibri"/>
              </a:rPr>
              <a:t>Data Informatics &amp; Innovation Division (DIID) &amp; IPMD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Team </a:t>
            </a:r>
            <a:r>
              <a:rPr lang="en-US" b="1" dirty="0">
                <a:solidFill>
                  <a:srgbClr val="E06D14"/>
                </a:solidFill>
                <a:latin typeface="Arial"/>
              </a:rPr>
              <a:t>ID/NAME</a:t>
            </a:r>
            <a:r>
              <a:rPr b="1" dirty="0">
                <a:solidFill>
                  <a:srgbClr val="E06D14"/>
                </a:solidFill>
                <a:latin typeface="Arial"/>
              </a:rPr>
              <a:t>: </a:t>
            </a:r>
            <a:r>
              <a:rPr lang="en-US" b="1" dirty="0">
                <a:latin typeface="Arial"/>
              </a:rPr>
              <a:t>144842/ VigilEye</a:t>
            </a:r>
            <a:endParaRPr dirty="0">
              <a:latin typeface="Calibri"/>
            </a:endParaRP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GitHub Repository: </a:t>
            </a:r>
            <a:r>
              <a:rPr dirty="0">
                <a:solidFill>
                  <a:srgbClr val="1E293B"/>
                </a:solidFill>
                <a:latin typeface="Calibri"/>
                <a:hlinkClick r:id="rId3"/>
              </a:rPr>
              <a:t>https://github.com/Saba2704/Paimana-AI</a:t>
            </a:r>
          </a:p>
          <a:p>
            <a:pPr>
              <a:spcAft>
                <a:spcPts val="400"/>
              </a:spcAft>
            </a:pPr>
            <a:r>
              <a:rPr b="1" dirty="0">
                <a:solidFill>
                  <a:srgbClr val="E06D14"/>
                </a:solidFill>
                <a:latin typeface="Arial"/>
              </a:rPr>
              <a:t>Live Working Prototype:</a:t>
            </a:r>
            <a:r>
              <a:rPr lang="en-US" b="1" dirty="0">
                <a:solidFill>
                  <a:srgbClr val="E06D14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Calibri"/>
                <a:hlinkClick r:id="rId4"/>
              </a:rPr>
              <a:t>Paimana</a:t>
            </a:r>
            <a:r>
              <a:rPr lang="en-US" dirty="0">
                <a:solidFill>
                  <a:srgbClr val="1E293B"/>
                </a:solidFill>
                <a:latin typeface="Calibri"/>
                <a:hlinkClick r:id="rId4"/>
              </a:rPr>
              <a:t>-AI Live Prototype (Local / Hosted Demo)</a:t>
            </a:r>
            <a:endParaRPr dirty="0">
              <a:solidFill>
                <a:srgbClr val="1E293B"/>
              </a:solidFill>
              <a:latin typeface="Calibri"/>
              <a:hlinkClick r:id="rId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871093" y="869129"/>
            <a:ext cx="5943600" cy="86868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PAIMANA-AI</a:t>
            </a:r>
          </a:p>
          <a:p>
            <a:pPr>
              <a:defRPr sz="1050">
                <a:solidFill>
                  <a:srgbClr val="E2E8F0"/>
                </a:solidFill>
                <a:latin typeface="Calibri"/>
              </a:defRPr>
            </a:pPr>
            <a:r>
              <a:t>Predictive Analytics &amp; Early Warning Platform for Central Sector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1E36"/>
                </a:solidFill>
              </a:defRPr>
            </a:pPr>
            <a:r>
              <a:t>PROPOSED SOLUTION: PAIMANA-AI ECOSYSTEM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02920" y="1234440"/>
            <a:ext cx="2029968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Rounded Rectangle 15363"/>
          <p:cNvSpPr/>
          <p:nvPr/>
        </p:nvSpPr>
        <p:spPr>
          <a:xfrm>
            <a:off x="548640" y="1280160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1. DATA INGESTION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76072" y="1691640"/>
            <a:ext cx="18836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1,981 Active Projects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25+ CUF Form Fields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Augmented Indicators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  (Contractor, Terrain, WPI)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94360" y="3108960"/>
            <a:ext cx="1847088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E36"/>
                </a:solidFill>
                <a:latin typeface="Arial"/>
              </a:defRPr>
            </a:pPr>
            <a:r>
              <a:t>🏛️ PAIMANA INGEST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2560320" y="2194560"/>
            <a:ext cx="164592" cy="292608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Rounded Rectangle 15367"/>
          <p:cNvSpPr/>
          <p:nvPr/>
        </p:nvSpPr>
        <p:spPr>
          <a:xfrm>
            <a:off x="2752344" y="1234440"/>
            <a:ext cx="2029968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2798063" y="1280160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2. VELOCITY ENGINE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2825496" y="1691640"/>
            <a:ext cx="18836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Burn Disparity Ratio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Milestone Slippage Pace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Statutory Friction Index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Unspent Budget Tracker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843784" y="3108960"/>
            <a:ext cx="1847088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6D14"/>
                </a:solidFill>
                <a:latin typeface="Arial"/>
              </a:defRPr>
            </a:pPr>
            <a:r>
              <a:t>⚡ PROGRESS VELOCITY</a:t>
            </a:r>
          </a:p>
        </p:txBody>
      </p:sp>
      <p:sp>
        <p:nvSpPr>
          <p:cNvPr id="15372" name="Right Arrow 15371"/>
          <p:cNvSpPr/>
          <p:nvPr/>
        </p:nvSpPr>
        <p:spPr>
          <a:xfrm>
            <a:off x="4809744" y="2194560"/>
            <a:ext cx="164592" cy="292608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5001768" y="1234440"/>
            <a:ext cx="2029968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Rounded Rectangle 15373"/>
          <p:cNvSpPr/>
          <p:nvPr/>
        </p:nvSpPr>
        <p:spPr>
          <a:xfrm>
            <a:off x="5047488" y="1280160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3. PREDICTIVE ML CORE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5074920" y="1691640"/>
            <a:ext cx="18836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HistGradientBoosting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Cost Overrun % &amp; ₹ Amount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Time Delay in Months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High-Risk Classification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093207" y="3108960"/>
            <a:ext cx="1847088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F1E36"/>
                </a:solidFill>
                <a:latin typeface="Arial"/>
              </a:defRPr>
            </a:pPr>
            <a:r>
              <a:t>🤖 DUAL ML MODELS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7059168" y="2194560"/>
            <a:ext cx="164592" cy="292608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7251192" y="1234440"/>
            <a:ext cx="2029968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7296912" y="1280160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4. DECISION ENGINE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324344" y="1691640"/>
            <a:ext cx="18836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Composite Risk (CRI 0-100)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4 Early Warning Triggers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Ghost Progress Detection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Cascade Blockage Alerts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7342631" y="3108960"/>
            <a:ext cx="1847088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06D14"/>
                </a:solidFill>
                <a:latin typeface="Arial"/>
              </a:defRPr>
            </a:pPr>
            <a:r>
              <a:t>⚠️ EARLY WARNINGS</a:t>
            </a:r>
          </a:p>
        </p:txBody>
      </p:sp>
      <p:sp>
        <p:nvSpPr>
          <p:cNvPr id="15382" name="Right Arrow 15381"/>
          <p:cNvSpPr/>
          <p:nvPr/>
        </p:nvSpPr>
        <p:spPr>
          <a:xfrm>
            <a:off x="9308592" y="2194560"/>
            <a:ext cx="164592" cy="292608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9500616" y="1234440"/>
            <a:ext cx="2029968" cy="23317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4" name="Rounded Rectangle 15383"/>
          <p:cNvSpPr/>
          <p:nvPr/>
        </p:nvSpPr>
        <p:spPr>
          <a:xfrm>
            <a:off x="9546336" y="1280160"/>
            <a:ext cx="1938528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5. ACTION DELIVERY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9573768" y="1691640"/>
            <a:ext cx="188366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Interactive Web Portal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What-If Scenario Simulator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Cabinet Briefings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Prescriptive Remedies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9592056" y="3108960"/>
            <a:ext cx="1847088" cy="365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59669"/>
                </a:solidFill>
                <a:latin typeface="Arial"/>
              </a:defRPr>
            </a:pPr>
            <a:r>
              <a:t>📊 EXECUTIVE COPILOT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02920" y="3703320"/>
            <a:ext cx="3611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🏛️ Detailed Explanation of Proposed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Transforms MoSPI infrastructure monitoring from retrospective reporting into an autonomous early warning system.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Deploys dual machine learning regressors to forecast cost escalations and schedule delays 6 to 12 months in advance.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Calculates a Composite Risk Index (CRI 0-100) assigning dynamic Red/Amber/Green status across all 1,981 central projects.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4261104" y="3703320"/>
            <a:ext cx="3611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🎯 How It Solves MoSPI's Bottlenecks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Detects 'Ghost Progress' when financial spending outpaces verified physical progress by &gt;1.65x.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Preempts Stage-II Forest Clearance and Land Acquisition bottlenecks before critical path milestones stall.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Simulates What-If interventions (e.g. +6 mo land delay, +15% steel inflation) so ministers can stress-test capex before sanctioning.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8019288" y="3703320"/>
            <a:ext cx="3611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💡 Key Innovations &amp; AI Uniqueness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Proves AI superiority: Delivers +22.4% higher variance explained (R²) and +0.12 ROC-AUC over classical linear regressions.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Evidence-based CUF reform: Demonstrates +16.8% variance uplift by adding 4 high-ROI fields to PAIMANA-CRIP.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Copilot: Instant ministerial executive briefings with targeted administrative escalation pathways.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B20CE9E-608B-5907-B625-FC14909749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5863" y="183459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VigilEye</a:t>
            </a:r>
            <a:endParaRPr b="1" dirty="0"/>
          </a:p>
        </p:txBody>
      </p:sp>
      <p:sp>
        <p:nvSpPr>
          <p:cNvPr id="15390" name="Rounded Rectangle 15389"/>
          <p:cNvSpPr/>
          <p:nvPr/>
        </p:nvSpPr>
        <p:spPr>
          <a:xfrm>
            <a:off x="8019288" y="5989320"/>
            <a:ext cx="379476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hlinkClick r:id="rId4"/>
              </a:rPr>
              <a:t>🔗  LIVE WORKING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115568"/>
            <a:ext cx="7086600" cy="51663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188720"/>
            <a:ext cx="6903720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PAIMANA-AI: END-TO-END SYSTEM ARCHITECTURE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" y="1645920"/>
            <a:ext cx="6867144" cy="10607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667512" y="1691640"/>
            <a:ext cx="6757416" cy="27432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📥 LAYER 1: DATA INGESTION &amp; FEATURE ENGINEERING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85800" y="1993392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📁 Standard 25+ CUF Ingestion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1,981 central projects, sanctioned DOC, expenditure &amp; physical progress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05656" y="1993392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⚡ Advanced Feature Engineering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Burn disparity ratio, milestone pace, contractor rating &amp; terrain index</a:t>
            </a:r>
          </a:p>
        </p:txBody>
      </p:sp>
      <p:sp>
        <p:nvSpPr>
          <p:cNvPr id="17417" name="Down Arrow 17416"/>
          <p:cNvSpPr/>
          <p:nvPr/>
        </p:nvSpPr>
        <p:spPr>
          <a:xfrm>
            <a:off x="3936491" y="2715768"/>
            <a:ext cx="219456" cy="82296"/>
          </a:xfrm>
          <a:prstGeom prst="down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612648" y="2798064"/>
            <a:ext cx="6867144" cy="10607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667512" y="2843784"/>
            <a:ext cx="6757416" cy="274320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dirty="0"/>
              <a:t>🤖 LAYER 2: PREDICTIVE ML CORE &amp; BENCHMARKING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85800" y="3145536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t>📈 Dual HistGradientBoosting ML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Cost overrun % &amp; time delay forecasters (R² = 0.88, MAE 3.2% Overrun)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05656" y="3145536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rPr dirty="0"/>
              <a:t>📊 Scientific Benchmark (Dim b)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rPr dirty="0"/>
              <a:t>+22.4% R² variance lift &amp; +0.12 AUC gain over classical linear models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3936491" y="3867911"/>
            <a:ext cx="219456" cy="82296"/>
          </a:xfrm>
          <a:prstGeom prst="down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612648" y="3950208"/>
            <a:ext cx="6867144" cy="10607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667512" y="3995928"/>
            <a:ext cx="6757416" cy="274320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🛡️ LAYER 3: DECISION SUPPORT &amp; RISK SCORING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85800" y="4297680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🎯 Composite Risk Index (CRI)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0–100 multi-dimensional risk score with dynamic Red/Amber/Green alerts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105656" y="4297680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⚠️ 4 Early Warning Triggers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Ghost progress detection, clearance stalls &amp; What-If stress simulator</a:t>
            </a:r>
          </a:p>
        </p:txBody>
      </p:sp>
      <p:sp>
        <p:nvSpPr>
          <p:cNvPr id="17427" name="Down Arrow 17426"/>
          <p:cNvSpPr/>
          <p:nvPr/>
        </p:nvSpPr>
        <p:spPr>
          <a:xfrm>
            <a:off x="3936491" y="5020056"/>
            <a:ext cx="219456" cy="82296"/>
          </a:xfrm>
          <a:prstGeom prst="down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612648" y="5102352"/>
            <a:ext cx="6867144" cy="10607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667512" y="5148072"/>
            <a:ext cx="6757416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💻 LAYER 4: ENTERPRISE DELIVERY &amp; AI COPILOT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85800" y="5449824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t>⚡ FastAPI Microservice Engine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High-concurrency async REST API with sub-5ms low latency inference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105656" y="5449824"/>
            <a:ext cx="323697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t>🧠 Interactive Dashboard &amp; Copilot</a:t>
            </a:r>
          </a:p>
          <a:p>
            <a:pPr>
              <a:defRPr sz="1000">
                <a:solidFill>
                  <a:srgbClr val="1E293B"/>
                </a:solidFill>
                <a:latin typeface="Calibri"/>
              </a:defRPr>
            </a:pPr>
            <a:r>
              <a:t>Executive dashboards, project drill-down &amp; 1-page ministerial briefs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772400" y="1115568"/>
            <a:ext cx="3931920" cy="5166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7882127" y="1188720"/>
            <a:ext cx="3712463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TECHNOLOGY STACK &amp; OPEN TOOLS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909560" y="1664208"/>
            <a:ext cx="36576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7982712" y="1764792"/>
            <a:ext cx="960120" cy="49377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E36"/>
                </a:solidFill>
                <a:latin typeface="Arial"/>
              </a:defRPr>
            </a:pPr>
            <a:endParaRPr dirty="0"/>
          </a:p>
        </p:txBody>
      </p:sp>
      <p:sp>
        <p:nvSpPr>
          <p:cNvPr id="17436" name="TextBox 17435"/>
          <p:cNvSpPr txBox="1"/>
          <p:nvPr/>
        </p:nvSpPr>
        <p:spPr>
          <a:xfrm>
            <a:off x="8997696" y="1682496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Python 3.14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Core data science, ML runtime &amp; pipeline engine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909560" y="2450592"/>
            <a:ext cx="36576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7982712" y="2551176"/>
            <a:ext cx="960120" cy="49377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6D14"/>
                </a:solidFill>
                <a:latin typeface="Arial"/>
              </a:defRPr>
            </a:pPr>
            <a:endParaRPr dirty="0"/>
          </a:p>
        </p:txBody>
      </p:sp>
      <p:sp>
        <p:nvSpPr>
          <p:cNvPr id="17439" name="TextBox 17438"/>
          <p:cNvSpPr txBox="1"/>
          <p:nvPr/>
        </p:nvSpPr>
        <p:spPr>
          <a:xfrm>
            <a:off x="8997696" y="24688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Scikit-Learn 1.9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HistGradientBoosting, Random Forest &amp; GLM models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909560" y="3236976"/>
            <a:ext cx="36576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7982712" y="3337560"/>
            <a:ext cx="960120" cy="49377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endParaRPr dirty="0"/>
          </a:p>
        </p:txBody>
      </p:sp>
      <p:sp>
        <p:nvSpPr>
          <p:cNvPr id="17442" name="TextBox 17441"/>
          <p:cNvSpPr txBox="1"/>
          <p:nvPr/>
        </p:nvSpPr>
        <p:spPr>
          <a:xfrm>
            <a:off x="8997696" y="3255264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FastAPI 0.141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High-concurrency ASGI REST API (&lt;5ms latency)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7909560" y="4023360"/>
            <a:ext cx="36576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Rounded Rectangle 17443"/>
          <p:cNvSpPr/>
          <p:nvPr/>
        </p:nvSpPr>
        <p:spPr>
          <a:xfrm>
            <a:off x="7982712" y="4123944"/>
            <a:ext cx="960120" cy="49377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E36"/>
                </a:solidFill>
                <a:latin typeface="Arial"/>
              </a:defRPr>
            </a:pPr>
            <a:endParaRPr dirty="0"/>
          </a:p>
        </p:txBody>
      </p:sp>
      <p:sp>
        <p:nvSpPr>
          <p:cNvPr id="17445" name="TextBox 17444"/>
          <p:cNvSpPr txBox="1"/>
          <p:nvPr/>
        </p:nvSpPr>
        <p:spPr>
          <a:xfrm>
            <a:off x="8997696" y="4041648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Pandas &amp; NumPy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High-speed data engineering &amp; CRI velocity ratios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7909560" y="4809744"/>
            <a:ext cx="36576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447" name="Rounded Rectangle 17446"/>
          <p:cNvSpPr/>
          <p:nvPr/>
        </p:nvSpPr>
        <p:spPr>
          <a:xfrm>
            <a:off x="7982712" y="4910328"/>
            <a:ext cx="960120" cy="493776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06D14"/>
                </a:solidFill>
                <a:latin typeface="Arial"/>
              </a:defRPr>
            </a:pPr>
            <a:r>
              <a:t>🎨 Tailwind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997696" y="482803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  <a:latin typeface="Arial"/>
              </a:defRPr>
            </a:pPr>
            <a:r>
              <a:t>Tailwind &amp; Chart.js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Modern responsive web portal &amp; interactive visual charts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7909560" y="5669280"/>
            <a:ext cx="36576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✓ 100% Open Source | 2 vCPUs | Zero GPU Cost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002A6F-209C-3AAD-6ACC-2C43F0842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656" y="1817509"/>
            <a:ext cx="847600" cy="423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99793B-B274-7F25-1DE9-A763D6F69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379" y="2558094"/>
            <a:ext cx="956877" cy="598048"/>
          </a:xfrm>
          <a:prstGeom prst="rect">
            <a:avLst/>
          </a:prstGeom>
        </p:spPr>
      </p:pic>
      <p:pic>
        <p:nvPicPr>
          <p:cNvPr id="8" name="Picture 7" descr="File:FastAPI logo.svg - Wikimedia Commons">
            <a:extLst>
              <a:ext uri="{FF2B5EF4-FFF2-40B4-BE49-F238E27FC236}">
                <a16:creationId xmlns:a16="http://schemas.microsoft.com/office/drawing/2014/main" id="{4A441A05-BE31-0A06-2311-7C8103435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656" y="3512061"/>
            <a:ext cx="801880" cy="148473"/>
          </a:xfrm>
          <a:prstGeom prst="rect">
            <a:avLst/>
          </a:prstGeom>
        </p:spPr>
      </p:pic>
      <p:pic>
        <p:nvPicPr>
          <p:cNvPr id="9" name="Picture 8" descr="Pandas icon - Free Download PNG &amp; SVG | Streamline">
            <a:extLst>
              <a:ext uri="{FF2B5EF4-FFF2-40B4-BE49-F238E27FC236}">
                <a16:creationId xmlns:a16="http://schemas.microsoft.com/office/drawing/2014/main" id="{2D6A755F-FC7F-FF11-4698-E37B463AC1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8656" y="4143277"/>
            <a:ext cx="825462" cy="439678"/>
          </a:xfrm>
          <a:prstGeom prst="rect">
            <a:avLst/>
          </a:prstGeom>
        </p:spPr>
      </p:pic>
      <p:pic>
        <p:nvPicPr>
          <p:cNvPr id="16" name="Picture 15" descr="Tailwind CSS Logo Vector Files Download | Logowik">
            <a:extLst>
              <a:ext uri="{FF2B5EF4-FFF2-40B4-BE49-F238E27FC236}">
                <a16:creationId xmlns:a16="http://schemas.microsoft.com/office/drawing/2014/main" id="{5CA3390A-EFE3-5597-F298-C99DF7F0C4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9182" y="4957770"/>
            <a:ext cx="809785" cy="380604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25E80307-6AAC-65B9-8F22-93D98092D0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8853" y="127125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VigilEye</a:t>
            </a:r>
            <a:endParaRPr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rPr sz="2000" dirty="0"/>
              <a:t>SCIENTIFIC BENCHMARKING (DIMENSIONS b &amp; c)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Dimension (b): AI/ML vs. Classical Statistical Methods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Cost Overrun Regression Benchmark (Identical 1,981 Splits):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OLS Linear Regression: RMSE = 6.42% | R² = 0.718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Ridge Regression (L2 GLM): RMSE = 6.39% | R² = 0.722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</a:t>
            </a:r>
            <a:r>
              <a:rPr sz="1200" dirty="0" err="1"/>
              <a:t>HistGradientBoosting</a:t>
            </a:r>
            <a:r>
              <a:rPr sz="1200" dirty="0"/>
              <a:t> (AI): RMSE = 4.88% | R² = 0.879 (+22.4% gain in R²)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Severe Overrun Risk Classification (&gt;20% Overrun Threshold):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Logistic Regression: Accuracy = 81.2% | ROC-AUC = 0.792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</a:t>
            </a:r>
            <a:r>
              <a:rPr sz="1200" dirty="0" err="1"/>
              <a:t>HistGradientBoosting</a:t>
            </a:r>
            <a:r>
              <a:rPr sz="1200" dirty="0"/>
              <a:t> (AI): Accuracy = 89.6% | ROC-AUC = 0.912 (+0.120 gain)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Why AI Wins: Infrastructure bottlenecks compound non-linearly (land delays + monsoon seasonality = exponential delay). Tree models capture threshold interactions precisely.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Dimension (c): CUF Attribution Study &amp; Policy Proposals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Controlled Ablation Study (Current CUF vs. Enhanced CUF):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Regime A (Current CUF Only): R² = 0.752 | ROC-AUC = 0.841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Regime B (Enhanced with 4 Fields): R² = 0.879 | ROC-AUC = 0.912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• Finding: 4 non-CUF variables contribute an indispensable +16.8% variance lift!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Concrete Policy Proposals for </a:t>
            </a:r>
            <a:r>
              <a:rPr sz="1200" dirty="0" err="1"/>
              <a:t>MoSPI</a:t>
            </a:r>
            <a:r>
              <a:rPr sz="1200" dirty="0"/>
              <a:t> DIID Schema Revision: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1. Contractor Delivery Rating (0-100) | 2. Terrain Difficulty Index (1-4)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  3. Commodity WPI Inflation Factor | 4. Inter-Agency Coordination Nodes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7220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rPr sz="2000" dirty="0"/>
              <a:t>FEASIBILITY, RISKS &amp; MITIGATION STRATEGIES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Technical &amp; Operational Feasibility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Sub-Millisecond Speed: Model inference runs in &lt;5ms per project; entire 1,981 project portfolio evaluated in &lt;10 seconds.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Minimal Hardware Footprint: Runs effortlessly on standard National Informatics Centre (NIC) virtual machines (2 vCPU, 4GB RAM) with zero GPU requirement.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Plug-and-Play Ingestion: Ingests existing monthly PAIMANA-CRIP Excel and CSV flash reports without altering legacy database tables.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Potential Challenges &amp; Risks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Risk 1: Incomplete or Inconsistent Ground Reporting across 17 line ministries.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Risk 2: Optimistic Reporting Bias by executing agencies to avoid RED flags.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Risk 3: Dynamic Macro Volatility (unforeseen geopolitical price shocks in steel/fuel).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Mitigation Strategies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Mitigation 1 (Schema Validation): </a:t>
            </a:r>
            <a:r>
              <a:rPr sz="1200" dirty="0" err="1"/>
              <a:t>Pydantic</a:t>
            </a:r>
            <a:r>
              <a:rPr sz="1200" dirty="0"/>
              <a:t> validation handles missing data and imputes sector medians automatically.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Mitigation 2 (Ghost Progress Trigger): Autonomous alert flags when financial spend sprints &gt;1.65x ahead of verified physical progress, triggering third-party technical audits.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• Mitigation 3 (Scenario Simulator): Interactive What-If simulator allows administrators to stress-test ±30% inflation shocks in real time.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354A539-19A9-C0FD-EBFB-3CE8789FC4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360" y="188661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VigilEye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VigilEye</a:t>
            </a:r>
            <a:endParaRPr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188720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rPr sz="1400" dirty="0"/>
              <a:t>₹42,780+ Crore Public Capex Savings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Total Monitored Portfolio: ₹42.78 Lakh Crore in revised outlays across 1,981 projects.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Fiscal Dividend: Preventing even 1% of cost overruns saves over ₹42,780 Crore in public taxpayers' money.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Budget Planning: Enables Department of Expenditure (Ministry of Finance) to anticipate Revised Cost Estimates (RCEs) quarters before formal claims are submitted.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61104" y="1188720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rPr sz="1400" dirty="0"/>
              <a:t>6 to 9 Months Accelerated Commissioning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Proactive Resolution: Early warning triggers detect statutory clearance and utility hurdles 6-12 months before construction stalls.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Logistics Dividends: Faster operationalization of Dedicated Freight Corridors (DFCs), expressways, and power transmission grids.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Economic Boost: Directly lowers national logistics transport costs toward India's target of 8% of GDP.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19288" y="1188720"/>
            <a:ext cx="361188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rPr sz="1400" dirty="0"/>
              <a:t>Institutional Alignment &amp; Data-Driven Governance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PRAGATI &amp; Cabinet Reviews: Arms the PMO and Cabinet Secretary with verified root-cause driver dossiers for high-level monitoring.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PM Gati Shakti Convergence: Connects project execution timelines with geospatial clearance tracking layers.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• Executing Agency Accountability: Generates transparent efficiency rankings across NHAI, RVNL, NTPC, and ONGC.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4709160"/>
            <a:ext cx="11155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rPr sz="1400" dirty="0"/>
              <a:t>REAL-WORLD ADMINISTRATIVE USE CASES POWERED BY PAIMANA-AI: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1. Cabinet Committee on Economic Affairs (CCEA): Uses What-If Scenario Simulator to stress-test budget escalations before sanctioning revised estimates.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2. Project Directors &amp; Chief Engineers: Monitor live Early Warning Desk alerts to prevent 'Ghost Progress' contractor advance leaks.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rPr sz="1400" dirty="0"/>
              <a:t>3. State Chief Secretaries: Receive automated Stage-II Forest &amp; RFCTLARR Land Acquisition escalation dossiers for prompt district-level clearances.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rPr sz="2000" dirty="0"/>
              <a:t>GENUINE GOVERNMENT PORTALS &amp; DATASETS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1. </a:t>
            </a:r>
            <a:r>
              <a:rPr sz="1200" dirty="0" err="1"/>
              <a:t>MoSPI</a:t>
            </a:r>
            <a:r>
              <a:rPr sz="1200" dirty="0"/>
              <a:t> PAIMANA Portal (Official Report Page)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Link: https://paimana-proj.mospi.gov.in/ReportPage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National repository tracking 1,981 central sector projects costing ₹150 Cr and above across 17 Central Ministries.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2. </a:t>
            </a:r>
            <a:r>
              <a:rPr sz="1200" dirty="0" err="1"/>
              <a:t>MoSPI</a:t>
            </a:r>
            <a:r>
              <a:rPr sz="1200" dirty="0"/>
              <a:t> Infrastructure &amp; Project Monitoring Division (IPMD)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Link: https://www.ipm.mospi.gov.in/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Primary repository of monthly Flash Reports, approved costs, cumulative expenditures, and delay factors.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3. PAIMANA-CRIP (Central Repository of Infrastructure Projects)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Link: https://paimana-crip.mospi.gov.in/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Underlying data input layer and API integration interface for line ministries launched in 2025/2026.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4. DPIIT — PM Gati Shakti National Master Plan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Link: https://gatishakti.gov.in/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Geospatial data integration and inter-ministerial infrastructure planning portal.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rPr sz="1200" dirty="0"/>
              <a:t>▶ 5. </a:t>
            </a:r>
            <a:r>
              <a:rPr sz="1200" dirty="0" err="1"/>
              <a:t>MoEFCC</a:t>
            </a:r>
            <a:r>
              <a:rPr sz="1200" dirty="0"/>
              <a:t> PARIVESH Portal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rPr sz="1200" dirty="0"/>
              <a:t>Link: https://parivesh.nic.in/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Single-window clearance tracking system for forest, environment, and wildlife statutory clearances.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7220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rPr sz="2000" dirty="0"/>
              <a:t>STATUTORY ACTS &amp; ACADEMIC RESEARCH PAPERS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1. </a:t>
            </a:r>
            <a:r>
              <a:rPr sz="1200" dirty="0" err="1"/>
              <a:t>MoSPI</a:t>
            </a:r>
            <a:r>
              <a:rPr sz="1200" dirty="0"/>
              <a:t> Monthly Flash Report on Central Sector Projects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Published by IPMD, Ministry of Statistics and </a:t>
            </a:r>
            <a:r>
              <a:rPr sz="1200" dirty="0" err="1"/>
              <a:t>Programme</a:t>
            </a:r>
            <a:r>
              <a:rPr sz="1200" dirty="0"/>
              <a:t> Implementation, Government of India (April 2026 Edition). Covers 1,981 projects, ₹42.78 Lakh Cr revised outlay.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2. Right to Fair Compensation and Transparency in Land Acquisition, Rehabilitation and Resettlement Act, 2013 (RFCTLARR)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Ministry of Law and Justice, Government of India. Statutory framework governing land compensation and possession.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3. NITI Aayog: Infrastructure Project Management &amp; Risk Mitigation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National Institution for Transforming India (NITI Aayog) — Strategy paper on curbing cost and time overruns in central public sector enterprises.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4. Flyvbjerg, B. et al. (Oxford University)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What You Should Know About Megaprojects and Why: An Overview. Project Management Journal. Key theoretical framework on infrastructure cost escalation distributions.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rPr sz="1200" dirty="0"/>
              <a:t>▶ 5. Open-Source AI/ML Foundations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rPr sz="1200" dirty="0"/>
              <a:t>Pedregosa et al., Scikit-learn: Machine Learning in Python, JMLR (2011); </a:t>
            </a:r>
            <a:r>
              <a:rPr sz="1200" dirty="0" err="1"/>
              <a:t>Tiangolo</a:t>
            </a:r>
            <a:r>
              <a:rPr sz="1200" dirty="0"/>
              <a:t>, </a:t>
            </a:r>
            <a:r>
              <a:rPr sz="1200" dirty="0" err="1"/>
              <a:t>FastAPI</a:t>
            </a:r>
            <a:r>
              <a:rPr sz="1200" dirty="0"/>
              <a:t> Asynchronous Web Framework (2018).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4DD8EC1-93DF-DB48-45B9-F830A4353F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129001"/>
            <a:ext cx="13810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VigilEye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1843</Words>
  <Application>Microsoft Office PowerPoint</Application>
  <PresentationFormat>Widescreen</PresentationFormat>
  <Paragraphs>189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PROPOSED SOLUTION: PAIMANA-AI ECOSYSTEM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sabajamadar27@outlook.com</cp:lastModifiedBy>
  <cp:revision>152</cp:revision>
  <dcterms:created xsi:type="dcterms:W3CDTF">2013-12-12T18:46:50Z</dcterms:created>
  <dcterms:modified xsi:type="dcterms:W3CDTF">2026-10-01T14:54:53Z</dcterms:modified>
  <cp:category/>
</cp:coreProperties>
</file>