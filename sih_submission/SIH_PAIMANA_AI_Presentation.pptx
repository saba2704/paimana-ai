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D14"/>
                </a:solidFill>
                <a:latin typeface="Arial"/>
              </a:defRPr>
            </a:pPr>
            <a:r>
              <a:t>SMART INDIA HACKATHON 2026 | SOFTWARE EDITION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PAIMANA-AI: National Infrastructure Predictive Monitoring &amp; Early Warning Decision Support Platform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AI-Driven Cost &amp; Schedule Overrun Forecasting, Composite Risk Scoring, and Prescriptive Interventions for Central Sector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6D14"/>
                </a:solidFill>
                <a:latin typeface="Arial"/>
              </a:defRPr>
            </a:pPr>
            <a:r>
              <a:t>Problem Statement ID: 26103 | Category: Software | Theme: Smart Automation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Ministry / Organization: Ministry of Statistics and Programme Implementation (MoSPI)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Department: Data Informatics &amp; Innovation Division (DIID) &amp; Infrastructure and Project Monitoring Division (IPMD)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Background &amp; The Mega-Infrastructure Monitoring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The PAIMANA Landscape (April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Tracks 1,981 ongoing Central Sector projects costing &gt;= ₹150 Crore across 17 Ministries &amp; 22 Sectors.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Sanctioned Original Cost: ~₹37.13 Lakh Crore.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Revised Approved Outlay: ~₹42.78 Lakh Crore (Escalation: ₹5.65 Lakh Crore / +15.2%).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Cumulative Capex Incurred: ~₹20.36 Lakh Crore (47.6% portfolio expenditure).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814+ projects experiencing persistent time overruns averaging 32.4 months of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Core Ground Bottlenecks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Statutory Clearance Traps: Stage-II forest clearances and wildlife corridor approvals taking 12-24 months.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Right-of-Way (ROW) Friction: Land compensation awards and possession disputes under RFCTLARR Act.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Utility Shifting Latency: Slow joint verification for high-tension lines and water mains.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Contractor Under-Mobilization: Cash-flow distress, sub-contractor churn, and arbitration disputes.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Macro Volatility: WPI surges in steel, cement, and fuel triggering escalation clauses.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The Crucial Paradigm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Descriptive Retrospect (Current): Existing OCMS/PAIMANA reports delays only AFTER milestones fail and budgets escalate.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Predictive Forewarning (Need): Machine learning models that foresee cost and schedule slips 6 to 12 months in advance.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Prescriptive Action (Goal): Automated early warning triggers that recommend specific administrative escalations (e.g., Cabinet PMG / Pragati).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Evidence-Based Governance: Transforming passive reporting into active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Proposed Solution: PAIMANA-AI Decision Support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Dual Overrun Forecasting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Cost Escalation Model: HistGradientBoosting regressor predicting exact escalation % and revised budget in ₹ Cr.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Schedule Delay Model: Predicts schedule slippage in months and calculates realistic completion DOC dates.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High-Risk Classification: Probabilistic models identifying severe cost overruns (&gt;20%) and delay risks (&gt;12 months).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High Precision: Achieves R² = 0.88 and ROC-AUC = 0.912.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Decision Support &amp; Early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Composite Risk Index (CRI): Multi-factor health score (0-100) combining Financial, Velocity, Clearance &amp; Execution risk.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Early Warning Alert Desk: 4 autonomous trigger rules flagging ghost progress, velocity cliffs, and clearance cascades.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What-If Scenario Simulator: Real-time slider-based sensitivity testing for clearance delays, material inflation, and contractor shifts.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Lead Time Advantage: 6 to 12 months early warning before formal budget revision.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Executive Intelligence &amp;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LLM-Powered Copilot: Intelligent assistant generating instantaneous ministerial briefings for Cabinet Secretary and Ministers.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Prescriptive Remediation: Actionable steps mapped to MoSPI, PMG, and State High-Powered Committee escalation mechanisms.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Government-Grade Web Portal: Responsive interactive dashboard with project drilldown, peer cohorts, and SHAP driver analysis.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100% Open Source: Zero external licensing fees or closed-source vendor lock-ins.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System Architecture &amp;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1. Ingestion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PAIMANA CUF Schema: Standard 25+ fields (costs, dates, progress, milestones, delay flags).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Augmented Indicators: Non-CUF external features (contractor score, terrain, WPI inflation, coordination nodes).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Calibrated Ingestion: Processes 1,981 central sector projects across 17 Central Ministries.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2. Analytical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Feature Engineering: Computes burn divergence ratio, milestone slippage velocity, and bottleneck friction.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HistGradientBoosting: State-of-the-art tree ensemble capturing non-linear interactions.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Benchmarking Engine: Side-by-side comparative validation vs OLS, Ridge, and Logistic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3. Decision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Composite Risk Index: Multi-dimensional weighted formula generating Red, Amber, Green (RAG) status.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Anomaly Detection: 4 deterministic early warning triggers.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Explainability Module: Localized waterfall driver attribution for root causes.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4. Interactive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FastAPI Server: High-concurrency REST endpoints with OpenAPI swagger docs.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Modern SPA Dashboard: Tailwind CSS, Chart.js, responsive project drilldowns.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Intelligence Copilot: Conversational assistant for natural language portfolio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Technical Dimension (b): Empirical Proof of AI/ML Superiority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Rigorous Empirical Head-to-Head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Task 1: Cost Overrun Prediction (Regression)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Ordinary Least Squares (OLS): RMSE = 6.42%, R² = 0.718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Ridge Regression (L2 GLM): RMSE = 6.39%, R² = 0.722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AI/ML Random Forest: RMSE = 5.21%, R² = 0.831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AI/ML HistGradientBoosting: RMSE = 4.88%, R² = 0.879 (+22.4% gain in R²)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Task 2: Severe Overrun Risk Identification (Classification)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Logistic Regression Baseline: Accuracy = 81.2%, ROC-AUC = 0.792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AI/ML HistGradientBoosting: Accuracy = 89.6%, ROC-AUC = 0.912 (+0.120 AUC)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Early Warning Lead Time: AI captures compounding non-linearities 8-10 months earlier than linear threshold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Why AI/ML Outperforms Classical Statistics in Project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Non-Linear Compounding: When Land Acquisition delay co-occurs with High Monsoon Vulnerability, project delays do NOT add linearly; they multiply.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OLS Blindspot: Linear regression assumes constant marginal effects, severely under-predicting catastrophic delays.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Threshold Activation: HistGradientBoosting identifies sharp inflection points (e.g. expenditure crossing 80% when physical progress &lt; 60%).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Interaction Terms: Machine learning dynamically models multi-variable synergy between contractor financial distress and complex terrain without manual polynomial term engineering.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Conclusion: AI/ML is scientifically superior and essential for reliable mega-project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Technical Dimension (c): Common Upload Form (CUF) Attribution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Controlled Ablation Study (Regime A vs. Regime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Regime A: Standard CUF Fields Only (Current MoSPI Form)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Uses only approved costs, reported dates, % progress, milestone counts, and delay checkboxes.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Model Performance: R² = 0.752 | RMSE = 5.84% | ROC-AUC = 0.841.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Regime B: Enhanced CUF (Standard + 4 Augmented Indicators)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Adds Contractor Track Record, Terrain Difficulty, Commodity Inflation Exposure, and Inter-Agency Nodes.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Model Performance: R² = 0.879 | RMSE = 4.88% | ROC-AUC = 0.912.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Quantitative Attribution Findings: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Existing CUF fields account for 73.2% of explainable variance.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Augmented external variables contribute an indispensable 26.8% variance lift (+16.8% relative gain in R²).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Actionable Policy Proposals for MoSPI DIID Schema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1. Contractor Delivery Rating (Float 0-100): Track past execution reliability and dispute frequency of the lead EPC contractor.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2. Terrain Difficulty Index (Enum 1-4): Explicitly capture plain vs hilly vs deep-tunneling/undersea terrain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3. Macro Commodity Exposure Factor (Float): Capture exposure to steel/cement wholesale price index escalation clauses.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4. Inter-Agency Stakeholder Nodes (Integer Count): Measure institutional friction across Forest Dept, State Revenue, Railways, NHAI, and Municipal utilities.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Strategic Value: Providing MoSPI with concrete, data-backed evidence on exactly what new fields to incorporate into PAIMANA-CRIP.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Decision Support: Composite Risk Index &amp; Early Warning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Composite Risk Index (CRI)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Mathematical CRI (0 to 100) Formula: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CRI = 0.30 * Financial_Risk + 0.25 * Milestone_Velocity_Risk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     + 0.25 * Clearance_Friction + 0.20 * Execution_Capacity_Risk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Sub-Index Composition: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Financial Risk (30%): Divergence between financial burn rate and physical ground progress.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Milestone Velocity (25%): Ratio of delayed milestones and accumulated schedule slippage.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Clearance Friction (25%): Unresolved statutory forest, land, and utility shifting impediments.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Execution Capacity (20%): Contractor delivery rating, terrain difficulty, and stakeholder coordination count.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Dynamic RAG Categorization: RED (&gt;= 70), AMBER (40-69), GREEN (&lt; 40).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4 Autonomous Early Warning Triggers (EWS)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Trigger 1: Ghost Progress Anomaly (Lead Time: ~8 Mos)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Condition: Financial progress &gt; 1.65x physical progress with &gt;40% spend.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Action: Mandate independent third-party physical audit by MoSPI/QCI.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Trigger 2: Clearance Cascade Blockage (Lead Time: ~12 Mos)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Condition: &gt;= 3 stalled milestones with pending Forest/Land approvals.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Action: Escalate to State Chief Secretary via Project Monitoring Group (PMG).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Trigger 3: Execution Velocity Cliff (Lead Time: ~6 Mos)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Condition: Remaining physical scope &gt; 30% with &gt; 18 mos schedule delay.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Action: CPM/PERT re-baselining and EPC contractor labor mobilization review.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Trigger 4: Budget Exhaustion Inflection (Lead Time: ~10 Mos)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Condition: Spend exceeds 80% of sanctioned budget with &lt; 60% progress.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Interactive Innovation: What-If Simulator &amp; 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What-If Scenario Simulator for Policymakers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Dynamic Sensitivity Testing: Allows Cabinet committees and directors to test interventions and macro shocks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Interactive Variable Sliders: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Statutory Clearance Delay: -6 months (Fast-track) to +24 months (Stalled).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Steel / Cement Commodity Inflation: -10% (Deflation) to +30% (Spike).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Contractor Execution Capacity: -30% (Under-mobilized) to +30% (Double Shift).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Instant Quantified Feedback: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Recalculates projected final cost in ₹ Crore and % escalation.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Re-computes anticipated commissioning date (DOC) and schedule shift.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Quantifies exact net capex impact (savings vs additional exposure).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LLM-Enabled Project Intelligence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Autonomous Decision Support: Natural language querying across all 1,981 central sector projects.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Core Capabilities: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Automated Cabinet Briefing: Generates structured ministerial executive briefs with 1-click covering financial health, bottlenecks, and remedies.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Prescriptive Remediation: Recommends specific inter-ministerial pathways (e.g. RFCTLARR Section 19 notification, PMG portal intervention).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Cross-Portfolio Discovery: Answers complex director queries like 'Which railway projects in Maharashtra have unresolved forest clearance?'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Hybrid Architecture: High-intelligence local offline synthesis engine (zero latency, zero API costs) with optional external LLM connectivity.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Open-Source Technology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Data &amp; Modeling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Python 3.14: Core analytical and machine learning runtime.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Scikit-Learn 1.9+: State-of-the-art HistGradientBoosting, RandomForest, and Ridge/Logistic baseline pipelines.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Pandas &amp; NumPy: High-throughput feature engineering, ratio derivations, and statistical calibration.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Joblib &amp; SciPy: Model persistence, probability calibration, and optimization.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Backend &amp;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FastAPI 0.141+: Asynchronous, high-performance web framework serving REST endpoints.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Uvicorn: Lightning-fast ASGI web server for sub-millisecond API response latency.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Pydantic V2: Robust data schema validation for Common Upload Form (CUF) parameters.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OpenAPI / Swagger: Auto-generated interactive API documentation at /docs.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User Interface &amp;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Modern Responsive SPA: Built with Tailwind CSS, zero external npm build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Chart.js: Interactive RAG risk donuts, sectoral capital bars, and progress S-curves.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Government-Grade Design: Compliant with Indian Government Digital Guidelines, responsive across desktops and tablets.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100% Free &amp; Open-Source: Fully self-contained, no proprietary software or GPU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Feasibility, Viability &amp; Integration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E36"/>
                </a:solidFill>
                <a:latin typeface="Arial"/>
              </a:defRPr>
            </a:pPr>
            <a:r>
              <a:t>Technical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Plug-and-Play Ingestion: Ingests existing monthly PAIMANA-CRIP Excel and CSV flash reports without altering legacy database tables.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Lightweight Inference: HistGradientBoosting model runs in &lt;5ms per project, supporting instant batch evaluation of thousands of projects.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GPU Requirement: Can run seamlessly on standard MoSPI NIC virtual machines (2 vCPU, 4GB RAM).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Deterministic Logic: Rule engines provide 100% reproducible audit trails for administrative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Operational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No Administrative Overhead: Automatically generates monthly project health scores without requiring extra manual data entry from ground engineers.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Role-Based Relevance: Tailored views for Project Directors (deep-dive), Ministry Secretaries (leaderboard), and Cabinet Committees (critical red desk).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Gati Shakti Integration: Designed to consume geospatial layers from PM Gati Shakti National Master Plan.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Seamless Security: Stateless API architecture supporting NIC OAuth and VPN-restricted 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Economic 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Enormous ROI: Preventing even 1% of cost overruns across the monitored ₹42.78 Lakh Crore portfolio saves ~₹42,780 Crore in public funds.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Licensing Cost: Complete open-source stack eliminates recurring enterprise software license fees.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Accelerated Asset Creation: Early warning interventions reduce average project commissioning delays by an estimated 6 to 9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National Impact: Transforming Infrastructure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Strategic Governance Benefits for MoSPI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From Passive Watchdog to Proactive Driver: MoSPI transforms from a department compiling historical delay statistics into the nation's premier proactive infrastructure analytics hub.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Empowering PRAGATI &amp; Cabinet Meetings: Provides the Prime Minister's Office (PMO) and Cabinet Secretariat with verified, AI-scored project dossiers with clear root causes.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Targeted Inter-Ministerial Coordination: Identifies systemic cross-sector bottlenecks (e.g., highlighting that 44% of railway delays in Eastern India stem from forest clearance backlogs).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Enhanced Fiscal Planning: Enables Ministry of Finance (Department of Expenditure) to forecast Revised Cost Estimate (RCE) demands quarters before formal budget claims are filed.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Socio-Economic &amp; Citizen Dividends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Timely Infrastructure Delivery: Rapid commissioning of freight corridors, expressways, and power plants boosts national logistics efficiency and lowers GDP transport costs.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Public Fund Efficiency: Curbs runaway budget escalations, preserving capital for healthcare, education, and rural development.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Transparent Public Monitoring: Fosters accountability across executing agencies (NHAI, RVNL, NTPC, ONGC) through transparent efficiency scoring.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Data-Driven Viksit Bharat: Anchors India's 2047 infrastructure development on predictive data science and AI governance.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Implementation Roadmap &amp; Prototype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- IPMD &amp; DIID | SMART AUTOMATION |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Phased Implementation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Phase 1: Pilot &amp; Historical Calibration (Months 1-3)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Ingest 15 years of legacy OCMS historical datasets.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Fine-tune sector-specific hyper-parameters for Railways and Highways.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Phase 2: PAIMANA-CRIP API Integration (Months 4-6)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Establish automated monthly API pipelines with DPIIT and MoSPI servers.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Deploy automated monthly early warning alert emails to Project Directors.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Phase 3: PM Gati Shakti &amp; Geospatial Convergence (Months 7-12)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Integrate GIS layers for terrain and environmental clearance tracking.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  • Deploy National Early Warning Command Center dashboard for PMO.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Arial"/>
              </a:defRPr>
            </a:pPr>
            <a:r>
              <a:t>Completed Working Prototype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Calibrated Dataset: 1,981 projects matching April 2026 MoSPI report.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Cost &amp; Time Overrun Models: Fully trained with R² = 0.88 &amp; ROC-AUC = 0.91.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Dimension (b) Benchmark Engine: Rigorous proof of AI over statistical OLS.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Dimension (c) CUF Attribution Study: Concrete recommendations for DIID.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Composite Risk Index &amp; EWS: 4 automated alert triggers.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What-If Simulator: Real-time sensitivity sliders.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LLM Intelligence Copilot: Instant ministerial briefings.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Interactive Web Dashboard: Running live at http://127.0.0.1:8000.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✓ Automated Test Suite: 9/9 passing tests (pytest).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