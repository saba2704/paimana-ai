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Problem Statement ID: </a:t>
            </a:r>
            <a:r>
              <a:rPr sz="1150">
                <a:solidFill>
                  <a:srgbClr val="1E293B"/>
                </a:solidFill>
                <a:latin typeface="Calibri"/>
              </a:rPr>
              <a:t>26103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Problem Statement Title: </a:t>
            </a:r>
            <a:r>
              <a:rPr sz="1150">
                <a:solidFill>
                  <a:srgbClr val="1E293B"/>
                </a:solidFill>
                <a:latin typeface="Calibri"/>
              </a:rPr>
              <a:t>Use case on web-based integrated project-monitoring platform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Theme: </a:t>
            </a:r>
            <a:r>
              <a:rPr sz="1150">
                <a:solidFill>
                  <a:srgbClr val="1E293B"/>
                </a:solidFill>
                <a:latin typeface="Calibri"/>
              </a:rPr>
              <a:t>Smart Automation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PS Category: </a:t>
            </a:r>
            <a:r>
              <a:rPr sz="1150">
                <a:solidFill>
                  <a:srgbClr val="1E293B"/>
                </a:solidFill>
                <a:latin typeface="Calibri"/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Ministry: </a:t>
            </a:r>
            <a:r>
              <a:rPr sz="1150">
                <a:solidFill>
                  <a:srgbClr val="1E293B"/>
                </a:solidFill>
                <a:latin typeface="Calibri"/>
              </a:rPr>
              <a:t>Ministry of Statistics and Programme Implementation (MoSPI)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Department: </a:t>
            </a:r>
            <a:r>
              <a:rPr sz="1150">
                <a:solidFill>
                  <a:srgbClr val="1E293B"/>
                </a:solidFill>
                <a:latin typeface="Calibri"/>
              </a:rPr>
              <a:t>Data Informatics &amp; Innovation Division (DIID) &amp; IPMD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Team Name: </a:t>
            </a:r>
            <a:r>
              <a:rPr sz="1150">
                <a:solidFill>
                  <a:srgbClr val="1E293B"/>
                </a:solidFill>
                <a:latin typeface="Calibri"/>
              </a:rPr>
              <a:t>Team InfraVision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GitHub Repository: </a:t>
            </a:r>
            <a:r>
              <a:rPr sz="1150">
                <a:solidFill>
                  <a:srgbClr val="1E293B"/>
                </a:solidFill>
                <a:latin typeface="Calibri"/>
              </a:rPr>
              <a:t>https://github.com/Saba2704/Paimana-AI</a:t>
            </a:r>
          </a:p>
          <a:p>
            <a:pPr>
              <a:spcAft>
                <a:spcPts val="400"/>
              </a:spcAft>
            </a:pPr>
            <a:r>
              <a:rPr b="1" sz="1150">
                <a:solidFill>
                  <a:srgbClr val="E06D14"/>
                </a:solidFill>
                <a:latin typeface="Arial"/>
              </a:rPr>
              <a:t>Live Working Prototype: </a:t>
            </a:r>
            <a:r>
              <a:rPr sz="1150">
                <a:solidFill>
                  <a:srgbClr val="1E293B"/>
                </a:solidFill>
                <a:latin typeface="Calibri"/>
              </a:rPr>
              <a:t>http://127.0.0.1:8000 (Local / Hosted Demo)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65760" y="1188720"/>
            <a:ext cx="5943600" cy="868680"/>
          </a:xfrm>
          <a:prstGeom prst="roundRect">
            <a:avLst/>
          </a:prstGeom>
          <a:solidFill>
            <a:srgbClr val="0F1E36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Arial"/>
              </a:defRPr>
            </a:pPr>
            <a:r>
              <a:t>PAIMANA-AI</a:t>
            </a:r>
          </a:p>
          <a:p>
            <a:pPr>
              <a:defRPr sz="1050">
                <a:solidFill>
                  <a:srgbClr val="E2E8F0"/>
                </a:solidFill>
                <a:latin typeface="Calibri"/>
              </a:defRPr>
            </a:pPr>
            <a:r>
              <a:t>Predictive Analytics &amp; Early Warning Platform for Central Sector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000" b="1">
                <a:solidFill>
                  <a:srgbClr val="0F1E36"/>
                </a:solidFill>
              </a:defRPr>
            </a:pPr>
            <a:r>
              <a:t>PROPOSED SOLUTION: PAIMANA-AI ECOSYSTEM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502920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ounded Rectangle 15363"/>
          <p:cNvSpPr/>
          <p:nvPr/>
        </p:nvSpPr>
        <p:spPr>
          <a:xfrm>
            <a:off x="548640" y="1280160"/>
            <a:ext cx="1938528" cy="38404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1. DATA INGESTION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76072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1,981 Active Projects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25+ CUF Form Fields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Augmented Indicators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  (Contractor, Terrain, WPI)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94360" y="3108960"/>
            <a:ext cx="1847088" cy="365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E36"/>
                </a:solidFill>
                <a:latin typeface="Arial"/>
              </a:defRPr>
            </a:pPr>
            <a:r>
              <a:t>🏛️ PAIMANA-CRIP INGEST</a:t>
            </a:r>
          </a:p>
        </p:txBody>
      </p:sp>
      <p:sp>
        <p:nvSpPr>
          <p:cNvPr id="15367" name="Right Arrow 15366"/>
          <p:cNvSpPr/>
          <p:nvPr/>
        </p:nvSpPr>
        <p:spPr>
          <a:xfrm>
            <a:off x="2560320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ounded Rectangle 15367"/>
          <p:cNvSpPr/>
          <p:nvPr/>
        </p:nvSpPr>
        <p:spPr>
          <a:xfrm>
            <a:off x="2752344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2798063" y="1280160"/>
            <a:ext cx="1938528" cy="384048"/>
          </a:xfrm>
          <a:prstGeom prst="roundRect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2. VELOCITY ENGINE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2825496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Burn Disparity Ratio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Milestone Slippage Pace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Statutory Friction Index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Unspent Budget Tracker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2843784" y="3108960"/>
            <a:ext cx="1847088" cy="3657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6D14"/>
                </a:solidFill>
                <a:latin typeface="Arial"/>
              </a:defRPr>
            </a:pPr>
            <a:r>
              <a:t>⚡ PROGRESS VELOCITY</a:t>
            </a:r>
          </a:p>
        </p:txBody>
      </p:sp>
      <p:sp>
        <p:nvSpPr>
          <p:cNvPr id="15372" name="Right Arrow 15371"/>
          <p:cNvSpPr/>
          <p:nvPr/>
        </p:nvSpPr>
        <p:spPr>
          <a:xfrm>
            <a:off x="4809744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5001768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5047488" y="1280160"/>
            <a:ext cx="1938528" cy="38404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3. PREDICTIVE ML CORE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5074920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HistGradientBoosting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Cost Overrun % &amp; ₹ Amount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Time Delay in Months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High-Risk Classification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5093207" y="3108960"/>
            <a:ext cx="1847088" cy="3657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E36"/>
                </a:solidFill>
                <a:latin typeface="Arial"/>
              </a:defRPr>
            </a:pPr>
            <a:r>
              <a:t>🤖 DUAL ML FORECASTER</a:t>
            </a:r>
          </a:p>
        </p:txBody>
      </p:sp>
      <p:sp>
        <p:nvSpPr>
          <p:cNvPr id="15377" name="Right Arrow 15376"/>
          <p:cNvSpPr/>
          <p:nvPr/>
        </p:nvSpPr>
        <p:spPr>
          <a:xfrm>
            <a:off x="7059168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Rounded Rectangle 15377"/>
          <p:cNvSpPr/>
          <p:nvPr/>
        </p:nvSpPr>
        <p:spPr>
          <a:xfrm>
            <a:off x="7251192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Rounded Rectangle 15378"/>
          <p:cNvSpPr/>
          <p:nvPr/>
        </p:nvSpPr>
        <p:spPr>
          <a:xfrm>
            <a:off x="7296912" y="1280160"/>
            <a:ext cx="1938528" cy="384048"/>
          </a:xfrm>
          <a:prstGeom prst="roundRect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4. DECISION ENGINE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7324344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Composite Risk (CRI 0-100)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4 Early Warning Triggers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Ghost Progress Detection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Cascade Blockage Alerts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7342631" y="3108960"/>
            <a:ext cx="1847088" cy="3657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6D14"/>
                </a:solidFill>
                <a:latin typeface="Arial"/>
              </a:defRPr>
            </a:pPr>
            <a:r>
              <a:t>⚠️ EARLY WARNING DESK</a:t>
            </a:r>
          </a:p>
        </p:txBody>
      </p:sp>
      <p:sp>
        <p:nvSpPr>
          <p:cNvPr id="15382" name="Right Arrow 15381"/>
          <p:cNvSpPr/>
          <p:nvPr/>
        </p:nvSpPr>
        <p:spPr>
          <a:xfrm>
            <a:off x="9308592" y="2194560"/>
            <a:ext cx="164592" cy="292608"/>
          </a:xfrm>
          <a:prstGeom prst="right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9500616" y="1234440"/>
            <a:ext cx="2029968" cy="233172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Rounded Rectangle 15383"/>
          <p:cNvSpPr/>
          <p:nvPr/>
        </p:nvSpPr>
        <p:spPr>
          <a:xfrm>
            <a:off x="9546336" y="1280160"/>
            <a:ext cx="1938528" cy="384048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5. ACTION DELIVERY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9573768" y="1691640"/>
            <a:ext cx="18836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Interactive Web Portal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What-If Scenario Simulator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LLM Cabinet Briefings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Prescriptive Remedies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9592056" y="3108960"/>
            <a:ext cx="1847088" cy="365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59669"/>
                </a:solidFill>
                <a:latin typeface="Arial"/>
              </a:defRPr>
            </a:pPr>
            <a:r>
              <a:t>📊 EXECUTIVE COPILOT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502920" y="3703320"/>
            <a:ext cx="3611880" cy="2560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Detailed Explanation of Proposed Solution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Transforms MoSPI infrastructure monitoring from retrospective reporting into an autonomous early warning system.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Deploys dual machine learning regressors to forecast cost escalations and schedule delays 6 to 12 months in advance.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Calculates a Composite Risk Index (CRI 0-100) assigning dynamic Red/Amber/Green status across all 1,981 central projects.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4261104" y="3703320"/>
            <a:ext cx="3611880" cy="2560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06D14"/>
                </a:solidFill>
                <a:latin typeface="Arial"/>
              </a:defRPr>
            </a:pPr>
            <a:r>
              <a:t>How It Addresses The Problem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Detects 'Ghost Progress' when financial spending outpaces verified physical progress by &gt;1.65x.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Preempts Stage-II Forest Clearance and Land Acquisition bottlenecks before critical path milestones stall.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Simulates What-If interventions (e.g. +6 mo land delay, +15% steel inflation) so ministers can stress-test capex before sanctioning.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8019288" y="3703320"/>
            <a:ext cx="3611880" cy="2560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Arial"/>
              </a:defRPr>
            </a:pPr>
            <a:r>
              <a:t>Innovation &amp; Uniqueness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Proves AI superiority: Delivers +22.4% higher variance explained (R²) and +0.12 ROC-AUC over classical linear regressions.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Evidence-based CUF reform: Demonstrates +16.8% variance uplift by adding 4 high-ROI fields to PAIMANA-CRIP.</a:t>
            </a:r>
          </a:p>
          <a:p>
            <a:pPr>
              <a:spcBef>
                <a:spcPts val="3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LLM Copilot: Instant ministerial executive briefings with targeted administrative escalation pathways.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88720"/>
            <a:ext cx="7040880" cy="1078992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243584"/>
            <a:ext cx="3840480" cy="29260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1: DATA INGESTION &amp; CUF SCHEMA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2648" y="1572768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E36"/>
                </a:solidFill>
                <a:latin typeface="Arial"/>
              </a:defRPr>
            </a:pPr>
            <a:r>
              <a:t>📁 Standard CUF Fields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25+ Fields: Sanctioned Cost, Original/Revised DOC, Physical &amp; Financial %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916936" y="1572768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E36"/>
                </a:solidFill>
                <a:latin typeface="Arial"/>
              </a:defRPr>
            </a:pPr>
            <a:r>
              <a:t>🌐 Augmented Indicators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Contractor Delivery Score, Terrain Index, WPI Commodity Exposure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221224" y="1572768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E36"/>
                </a:solidFill>
                <a:latin typeface="Arial"/>
              </a:defRPr>
            </a:pPr>
            <a:r>
              <a:t>⚙️ Derived Feature Pipeline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Burn Disparity Ratio &amp; Milestone Slippage Velocity Derivation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3913632" y="2286000"/>
            <a:ext cx="219456" cy="164592"/>
          </a:xfrm>
          <a:prstGeom prst="down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502920" y="2468880"/>
            <a:ext cx="7040880" cy="1078992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594360" y="2523744"/>
            <a:ext cx="3840480" cy="292608"/>
          </a:xfrm>
          <a:prstGeom prst="roundRect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2: PREDICTIVE ANALYTICS &amp; BENCHMARK CORE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12648" y="2852928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E06D14"/>
                </a:solidFill>
                <a:latin typeface="Arial"/>
              </a:defRPr>
            </a:pPr>
            <a:r>
              <a:t>📈 Cost Overrun Model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HistGradientBoosting Regressor (R² = 0.88, MAE = 3.2% Overrun)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916936" y="2852928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E06D14"/>
                </a:solidFill>
                <a:latin typeface="Arial"/>
              </a:defRPr>
            </a:pPr>
            <a:r>
              <a:t>⏱️ Time Delay Model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Forecasts Schedule Slip in Months &amp; Revised Commissioning DOC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221224" y="2852928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E06D14"/>
                </a:solidFill>
                <a:latin typeface="Arial"/>
              </a:defRPr>
            </a:pPr>
            <a:r>
              <a:t>🔬 Empirical Benchmark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Empirical Proof: +22.4% R² Lift &amp; +0.12 AUC Gain over Linear OLS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3913632" y="3566160"/>
            <a:ext cx="219456" cy="164592"/>
          </a:xfrm>
          <a:prstGeom prst="down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502920" y="3749039"/>
            <a:ext cx="7040880" cy="1078992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594360" y="3803903"/>
            <a:ext cx="3840480" cy="292608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3: DECISION SUPPORT &amp; EARLY WARNING SYSTEM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12648" y="4133087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E36"/>
                </a:solidFill>
                <a:latin typeface="Arial"/>
              </a:defRPr>
            </a:pPr>
            <a:r>
              <a:t>🎯 Composite Risk (CRI)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Multi-factor score (0-100) assigning dynamic RED / AMBER / GREEN status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916936" y="4133087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E36"/>
                </a:solidFill>
                <a:latin typeface="Arial"/>
              </a:defRPr>
            </a:pPr>
            <a:r>
              <a:t>🚨 4 Anomaly Triggers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Autonomous Alerts: Ghost Progress, Clearance Cascade, Velocity Cliff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221224" y="4133087"/>
            <a:ext cx="21945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E36"/>
                </a:solidFill>
                <a:latin typeface="Arial"/>
              </a:defRPr>
            </a:pPr>
            <a:r>
              <a:t>🎛️ Scenario Simulator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Real-Time sensitivity sliders for clearance delays &amp; material inflation</a:t>
            </a:r>
          </a:p>
        </p:txBody>
      </p:sp>
      <p:sp>
        <p:nvSpPr>
          <p:cNvPr id="17428" name="Down Arrow 17427"/>
          <p:cNvSpPr/>
          <p:nvPr/>
        </p:nvSpPr>
        <p:spPr>
          <a:xfrm>
            <a:off x="3913632" y="4846319"/>
            <a:ext cx="219456" cy="164592"/>
          </a:xfrm>
          <a:prstGeom prst="downArrow">
            <a:avLst/>
          </a:prstGeom>
          <a:solidFill>
            <a:srgbClr val="E06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502920" y="5029200"/>
            <a:ext cx="7040880" cy="1143000"/>
          </a:xfrm>
          <a:prstGeom prst="roundRect">
            <a:avLst/>
          </a:prstGeom>
          <a:solidFill>
            <a:srgbClr val="F8FAFC"/>
          </a:solidFill>
          <a:ln w="222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594360" y="5084064"/>
            <a:ext cx="3840480" cy="292608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TIER 4: ENTERPRISE DELIVERY &amp; AI ASSISTANT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12648" y="5413248"/>
            <a:ext cx="21945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59669"/>
                </a:solidFill>
                <a:latin typeface="Arial"/>
              </a:defRPr>
            </a:pPr>
            <a:r>
              <a:t>⚡ FastAPI REST Engine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Asynchronous sub-5ms model inference &amp; auto-generated OpenAPI Swagger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2916936" y="5413248"/>
            <a:ext cx="21945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59669"/>
                </a:solidFill>
                <a:latin typeface="Arial"/>
              </a:defRPr>
            </a:pPr>
            <a:r>
              <a:t>📊 Executive Dashboard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Interactive portfolio analytics, project drilldown modals &amp; peer cohorts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221224" y="5413248"/>
            <a:ext cx="21945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59669"/>
                </a:solidFill>
                <a:latin typeface="Arial"/>
              </a:defRPr>
            </a:pPr>
            <a:r>
              <a:t>🧠 Project Copilot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Instant 1-page Ministerial briefs &amp; prescriptive bottleneck remedies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726679" y="1188720"/>
            <a:ext cx="3977639" cy="4983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7863840" y="1298448"/>
            <a:ext cx="3703320" cy="438912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TECHNOLOGY STACK &amp; OPEN TOOLS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9372600" y="1828799"/>
            <a:ext cx="2240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E36"/>
                </a:solidFill>
                <a:latin typeface="Arial"/>
              </a:defRPr>
            </a:pPr>
            <a:r>
              <a:t>Python 3.14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Core data science &amp; ML runtime environment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372600" y="2578608"/>
            <a:ext cx="2240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E36"/>
                </a:solidFill>
                <a:latin typeface="Arial"/>
              </a:defRPr>
            </a:pPr>
            <a:r>
              <a:t>Scikit-Learn 1.9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HistGradientBoosting, Random Forest &amp; GLM pipelines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372600" y="3328415"/>
            <a:ext cx="2240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E36"/>
                </a:solidFill>
                <a:latin typeface="Arial"/>
              </a:defRPr>
            </a:pPr>
            <a:r>
              <a:t>FastAPI 0.141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High-concurrency ASGI REST engine (&lt;5ms latency)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9372600" y="4078224"/>
            <a:ext cx="2240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E36"/>
                </a:solidFill>
                <a:latin typeface="Arial"/>
              </a:defRPr>
            </a:pPr>
            <a:r>
              <a:t>Pandas &amp; NumPy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High-throughput feature engineering &amp; ratio derivations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9372600" y="4828032"/>
            <a:ext cx="22402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E36"/>
                </a:solidFill>
                <a:latin typeface="Arial"/>
              </a:defRPr>
            </a:pPr>
            <a:r>
              <a:t>Tailwind &amp; Chart.js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Modern responsive web UI &amp; interactive data analytics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7863840" y="5596128"/>
            <a:ext cx="3703320" cy="475488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✓ 100% Open Source | Zero Licensing Fees | 2 vCPUs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SCIENTIFIC BENCHMARKING (DIMENSIONS b &amp; c)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Dimension (b): AI/ML vs. Classical Statistical Methods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Cost Overrun Regression Benchmark (Identical 1,981 Splits):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OLS Linear Regression: RMSE = 6.42% | R² = 0.718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Ridge Regression (L2 GLM): RMSE = 6.39% | R² = 0.722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HistGradientBoosting (AI): RMSE = 4.88% | R² = 0.879 (+22.4% gain in R²)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Severe Overrun Risk Classification (&gt;20% Overrun Threshold):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Logistic Regression: Accuracy = 81.2% | ROC-AUC = 0.792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HistGradientBoosting (AI): Accuracy = 89.6% | ROC-AUC = 0.912 (+0.120 gain)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Why AI Wins: Infrastructure bottlenecks compound non-linearly (land delays + monsoon seasonality = exponential delay). Tree models capture threshold interactions precisely.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Dimension (c): CUF Attribution Study &amp; Policy Proposals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Controlled Ablation Study (Current CUF vs. Enhanced CUF):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Regime A (Current CUF Only): R² = 0.752 | ROC-AUC = 0.841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Regime B (Enhanced with 4 Fields): R² = 0.879 | ROC-AUC = 0.912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• Finding: 4 non-CUF variables contribute an indispensable +16.8% variance lift!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Concrete Policy Proposals for MoSPI DIID Schema Revision: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1. Contractor Delivery Rating (0-100) | 2. Terrain Difficulty Index (1-4)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  3. Commodity WPI Inflation Factor | 4. Inter-Agency Coordination Nodes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7220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FEASIBILITY, RISKS &amp; MITIGATION STRATEGIES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Technical &amp; Operational Feasibility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Sub-Millisecond Speed: Model inference runs in &lt;5ms per project; entire 1,981 project portfolio evaluated in &lt;10 seconds.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Minimal Hardware Footprint: Runs effortlessly on standard National Informatics Centre (NIC) virtual machines (2 vCPU, 4GB RAM) with zero GPU requirement.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Plug-and-Play Ingestion: Ingests existing monthly PAIMANA-CRIP Excel and CSV flash reports without altering legacy database tables.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Potential Challenges &amp; Risks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Risk 1: Incomplete or Inconsistent Ground Reporting across 17 line ministries.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Risk 2: Optimistic Reporting Bias by executing agencies to avoid RED flags.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Risk 3: Dynamic Macro Volatility (unforeseen geopolitical price shocks in steel/fuel).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Mitigation Strategies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Mitigation 1 (Schema Validation): Pydantic validation handles missing data and imputes sector medians automatically.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Mitigation 2 (Ghost Progress Trigger): Autonomous alert flags when financial spend sprints &gt;1.65x ahead of verified physical progress, triggering third-party technical audits.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• Mitigation 3 (Scenario Simulator): Interactive What-If simulator allows administrators to stress-test ±30% inflation shocks in real time.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88720"/>
            <a:ext cx="36118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₹42,780+ Crore Public Capex Savings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Total Monitored Portfolio: ₹42.78 Lakh Crore in revised outlays across 1,981 projects.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Fiscal Dividend: Preventing even 1% of cost overruns saves over ₹42,780 Crore in public taxpayers' money.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Budget Planning: Enables Department of Expenditure (Ministry of Finance) to anticipate Revised Cost Estimates (RCEs) quarters before formal claims are submitted.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61104" y="1188720"/>
            <a:ext cx="36118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6 to 9 Months Accelerated Commissioning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Proactive Resolution: Early warning triggers detect statutory clearance and utility hurdles 6-12 months before construction stalls.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Logistics Dividends: Faster operationalization of Dedicated Freight Corridors (DFCs), expressways, and power transmission grids.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Economic Boost: Directly lowers national logistics transport costs toward India's target of 8% of GDP.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019288" y="1188720"/>
            <a:ext cx="36118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59669"/>
                </a:solidFill>
                <a:latin typeface="Arial"/>
              </a:defRPr>
            </a:pPr>
            <a:r>
              <a:t>Institutional Alignment &amp; Data-Driven Governance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PRAGATI &amp; Cabinet Reviews: Arms the PMO and Cabinet Secretary with verified root-cause driver dossiers for high-level monitoring.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PM Gati Shakti Convergence: Connects project execution timelines with geospatial clearance tracking layers.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Executing Agency Accountability: Generates transparent efficiency rankings across NHAI, RVNL, NTPC, and ONGC.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4709160"/>
            <a:ext cx="11155680" cy="15544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REAL-WORLD ADMINISTRATIVE USE CASES POWERED BY PAIMANA-AI: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1. Cabinet Committee on Economic Affairs (CCEA): Uses What-If Scenario Simulator to stress-test budget escalations before sanctioning revised estimates.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2. Project Directors &amp; Chief Engineers: Monitor live Early Warning Desk alerts to prevent 'Ghost Progress' contractor advance leaks.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3. State Chief Secretaries: Receive automated Stage-II Forest &amp; RFCTLARR Land Acquisition escalation dossiers for prompt district-level clearances.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Team InfraVision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0292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0F1E36"/>
                </a:solidFill>
                <a:latin typeface="Arial"/>
              </a:defRPr>
            </a:pPr>
            <a:r>
              <a:t>GENUINE GOVERNMENT PORTALS &amp; DATASETS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1. MoSPI PAIMANA Portal (Official Report Page)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https://paimana-proj.mospi.gov.in/ReportPage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National repository tracking 1,981 central sector projects costing ₹150 Cr and above across 17 Central Ministries.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2. MoSPI Infrastructure &amp; Project Monitoring Division (IPMD)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https://www.ipm.mospi.gov.in/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Primary repository of monthly Flash Reports, approved costs, cumulative expenditures, and delay factors.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3. PAIMANA-CRIP (Central Repository of Infrastructure Projects)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https://paimana-crip.mospi.gov.in/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Underlying data input layer and API integration interface for line ministries launched in 2025/2026.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4. DPIIT — PM Gati Shakti National Master Plan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https://gatishakti.gov.in/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Geospatial data integration and inter-ministerial infrastructure planning portal.</a:t>
            </a:r>
          </a:p>
          <a:p>
            <a:pPr>
              <a:spcBef>
                <a:spcPts val="400"/>
              </a:spcBef>
              <a:defRPr sz="1000" b="1">
                <a:solidFill>
                  <a:srgbClr val="E06D14"/>
                </a:solidFill>
                <a:latin typeface="Arial"/>
              </a:defRPr>
            </a:pPr>
            <a:r>
              <a:t>▶ 5. MoEFCC PARIVESH Portal</a:t>
            </a:r>
          </a:p>
          <a:p>
            <a:pPr>
              <a:defRPr sz="900">
                <a:solidFill>
                  <a:srgbClr val="2563EB"/>
                </a:solidFill>
                <a:latin typeface="Calibri"/>
              </a:defRPr>
            </a:pPr>
            <a:r>
              <a:t>Link: https://parivesh.nic.in/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Single-window clearance tracking system for forest, environment, and wildlife statutory clearances.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72200" y="1188720"/>
            <a:ext cx="5486400" cy="5074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6D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E06D14"/>
                </a:solidFill>
                <a:latin typeface="Arial"/>
              </a:defRPr>
            </a:pPr>
            <a:r>
              <a:t>STATUTORY ACTS &amp; ACADEMIC RESEARCH PAPERS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1. MoSPI Monthly Flash Report on Central Sector Projects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Published by IPMD, Ministry of Statistics and Programme Implementation, Government of India (April 2026 Edition). Covers 1,981 projects, ₹42.78 Lakh Cr revised outlay.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2. Right to Fair Compensation and Transparency in Land Acquisition, Rehabilitation and Resettlement Act, 2013 (RFCTLARR)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Ministry of Law and Justice, Government of India. Statutory framework governing land compensation and possession.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3. NITI Aayog: Infrastructure Project Management &amp; Risk Mitigation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National Institution for Transforming India (NITI Aayog) — Strategy paper on curbing cost and time overruns in central public sector enterprises.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4. Flyvbjerg, B. et al. (Oxford University)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What You Should Know About Megaprojects and Why: An Overview. Project Management Journal. Key theoretical framework on infrastructure cost escalation distributions.</a:t>
            </a:r>
          </a:p>
          <a:p>
            <a:pPr>
              <a:spcBef>
                <a:spcPts val="400"/>
              </a:spcBef>
              <a:defRPr sz="1000" b="1">
                <a:solidFill>
                  <a:srgbClr val="0F1E36"/>
                </a:solidFill>
                <a:latin typeface="Arial"/>
              </a:defRPr>
            </a:pPr>
            <a:r>
              <a:t>▶ 5. Open-Source AI/ML Foundations</a:t>
            </a:r>
          </a:p>
          <a:p>
            <a:pPr>
              <a:defRPr sz="850">
                <a:solidFill>
                  <a:srgbClr val="1E293B"/>
                </a:solidFill>
                <a:latin typeface="Calibri"/>
              </a:defRPr>
            </a:pPr>
            <a:r>
              <a:t>Pedregosa et al., Scikit-learn: Machine Learning in Python, JMLR (2011); Tiangolo, FastAPI Asynchronous Web Framework (2018).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