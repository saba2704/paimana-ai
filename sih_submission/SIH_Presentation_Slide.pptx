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49"/>
            <a:ext cx="6150990" cy="465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Problem Statement ID: </a:t>
            </a:r>
            <a:r>
              <a:rPr dirty="0">
                <a:solidFill>
                  <a:srgbClr val="1E293B"/>
                </a:solidFill>
                <a:latin typeface="Calibri"/>
              </a:rPr>
              <a:t>26103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Problem Statement Title: </a:t>
            </a:r>
            <a:r>
              <a:rPr dirty="0">
                <a:solidFill>
                  <a:srgbClr val="1E293B"/>
                </a:solidFill>
                <a:latin typeface="Calibri"/>
              </a:rPr>
              <a:t>Use case on web-based integrated project-monitoring platform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Theme: </a:t>
            </a:r>
            <a:r>
              <a:rPr dirty="0">
                <a:solidFill>
                  <a:srgbClr val="1E293B"/>
                </a:solidFill>
                <a:latin typeface="Calibri"/>
              </a:rPr>
              <a:t>Smart Automation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PS Category: </a:t>
            </a:r>
            <a:r>
              <a:rPr dirty="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Ministry: </a:t>
            </a:r>
            <a:r>
              <a:rPr dirty="0">
                <a:solidFill>
                  <a:srgbClr val="1E293B"/>
                </a:solidFill>
                <a:latin typeface="Calibri"/>
              </a:rPr>
              <a:t>Ministry of Statistics and </a:t>
            </a:r>
            <a:r>
              <a:rPr dirty="0" err="1">
                <a:solidFill>
                  <a:srgbClr val="1E293B"/>
                </a:solidFill>
                <a:latin typeface="Calibri"/>
              </a:rPr>
              <a:t>Programme</a:t>
            </a:r>
            <a:r>
              <a:rPr dirty="0">
                <a:solidFill>
                  <a:srgbClr val="1E293B"/>
                </a:solidFill>
                <a:latin typeface="Calibri"/>
              </a:rPr>
              <a:t> Implementation (</a:t>
            </a:r>
            <a:r>
              <a:rPr dirty="0" err="1">
                <a:solidFill>
                  <a:srgbClr val="1E293B"/>
                </a:solidFill>
                <a:latin typeface="Calibri"/>
              </a:rPr>
              <a:t>MoSPI</a:t>
            </a:r>
            <a:r>
              <a:rPr dirty="0">
                <a:solidFill>
                  <a:srgbClr val="1E293B"/>
                </a:solidFill>
                <a:latin typeface="Calibri"/>
              </a:rPr>
              <a:t>)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Department: </a:t>
            </a:r>
            <a:r>
              <a:rPr dirty="0">
                <a:solidFill>
                  <a:srgbClr val="1E293B"/>
                </a:solidFill>
                <a:latin typeface="Calibri"/>
              </a:rPr>
              <a:t>Data Informatics &amp; Innovation Division (DIID) &amp; IPMD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Team </a:t>
            </a:r>
            <a:r>
              <a:rPr lang="en-US" b="1" dirty="0">
                <a:solidFill>
                  <a:srgbClr val="E06D14"/>
                </a:solidFill>
                <a:latin typeface="Arial"/>
              </a:rPr>
              <a:t>ID</a:t>
            </a:r>
            <a:r>
              <a:rPr b="1" dirty="0">
                <a:solidFill>
                  <a:srgbClr val="E06D14"/>
                </a:solidFill>
                <a:latin typeface="Arial"/>
              </a:rPr>
              <a:t>: </a:t>
            </a:r>
            <a:r>
              <a:rPr lang="en-US" b="1" dirty="0">
                <a:solidFill>
                  <a:srgbClr val="1E293B"/>
                </a:solidFill>
                <a:latin typeface="Calibri"/>
              </a:rPr>
              <a:t>SIH-059</a:t>
            </a:r>
            <a:endParaRPr dirty="0">
              <a:solidFill>
                <a:srgbClr val="1E293B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GitHub Repository: </a:t>
            </a:r>
            <a:r>
              <a:rPr dirty="0">
                <a:solidFill>
                  <a:srgbClr val="1E293B"/>
                </a:solidFill>
                <a:latin typeface="Calibri"/>
              </a:rPr>
              <a:t>https://github.com/Saba2704/paimana-ai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Live Working Prototype: </a:t>
            </a:r>
            <a:r>
              <a:rPr dirty="0">
                <a:solidFill>
                  <a:srgbClr val="1E293B"/>
                </a:solidFill>
                <a:latin typeface="Calibri"/>
              </a:rPr>
              <a:t>http://127.0.0.1:8000 (Local / Hosted Demo)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65760" y="1188720"/>
            <a:ext cx="5943600" cy="82296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PAIMANA-AI</a:t>
            </a: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Predictive Analytics &amp; Early Warning Platform for Central Sector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0F1E36"/>
                </a:solidFill>
              </a:defRPr>
            </a:pPr>
            <a:r>
              <a:t>PROPOSED SOLUTION: PAIMANA-AI ECOSYSTEM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57808" y="84393"/>
            <a:ext cx="135678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latin typeface="New times"/>
              </a:rPr>
              <a:t>VigilEye</a:t>
            </a:r>
            <a:endParaRPr b="1" dirty="0">
              <a:solidFill>
                <a:schemeClr val="tx1"/>
              </a:solidFill>
              <a:latin typeface="New time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4864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Rounded Rectangle 15363"/>
          <p:cNvSpPr/>
          <p:nvPr/>
        </p:nvSpPr>
        <p:spPr>
          <a:xfrm>
            <a:off x="585216" y="1271016"/>
            <a:ext cx="1938528" cy="384048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1. Data Ingestion Layer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62179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1,981 Ongoing Projects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25+ CUF Standard Fields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Augmented Indicators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(Contractor, Terrain, WPI)</a:t>
            </a:r>
          </a:p>
        </p:txBody>
      </p:sp>
      <p:sp>
        <p:nvSpPr>
          <p:cNvPr id="15366" name="Right Arrow 15365"/>
          <p:cNvSpPr/>
          <p:nvPr/>
        </p:nvSpPr>
        <p:spPr>
          <a:xfrm>
            <a:off x="259689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Rounded Rectangle 15366"/>
          <p:cNvSpPr/>
          <p:nvPr/>
        </p:nvSpPr>
        <p:spPr>
          <a:xfrm>
            <a:off x="278892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8" name="Rounded Rectangle 15367"/>
          <p:cNvSpPr/>
          <p:nvPr/>
        </p:nvSpPr>
        <p:spPr>
          <a:xfrm>
            <a:off x="2825496" y="1271016"/>
            <a:ext cx="1938528" cy="384048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2. Derived Velocity Ratios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286207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Burn Divergence Ratio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Milestone Slippage Velocity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Bottleneck Friction Index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Unspent Budget Tracker</a:t>
            </a:r>
          </a:p>
        </p:txBody>
      </p:sp>
      <p:sp>
        <p:nvSpPr>
          <p:cNvPr id="15370" name="Right Arrow 15369"/>
          <p:cNvSpPr/>
          <p:nvPr/>
        </p:nvSpPr>
        <p:spPr>
          <a:xfrm>
            <a:off x="483717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Rounded Rectangle 15370"/>
          <p:cNvSpPr/>
          <p:nvPr/>
        </p:nvSpPr>
        <p:spPr>
          <a:xfrm>
            <a:off x="502920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Rounded Rectangle 15371"/>
          <p:cNvSpPr/>
          <p:nvPr/>
        </p:nvSpPr>
        <p:spPr>
          <a:xfrm>
            <a:off x="5065776" y="1271016"/>
            <a:ext cx="1938528" cy="384048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3. Predictive ML Core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10235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HistGradientBoosting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Cost Overrun % &amp; ₹ Amount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Time Delay in Months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High-Risk Classification</a:t>
            </a:r>
          </a:p>
        </p:txBody>
      </p:sp>
      <p:sp>
        <p:nvSpPr>
          <p:cNvPr id="15374" name="Right Arrow 15373"/>
          <p:cNvSpPr/>
          <p:nvPr/>
        </p:nvSpPr>
        <p:spPr>
          <a:xfrm>
            <a:off x="707745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5" name="Rounded Rectangle 15374"/>
          <p:cNvSpPr/>
          <p:nvPr/>
        </p:nvSpPr>
        <p:spPr>
          <a:xfrm>
            <a:off x="726948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Rounded Rectangle 15375"/>
          <p:cNvSpPr/>
          <p:nvPr/>
        </p:nvSpPr>
        <p:spPr>
          <a:xfrm>
            <a:off x="7306056" y="1271016"/>
            <a:ext cx="1938528" cy="384048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4. Decision &amp; Alert Engine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7342631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Composite Risk Index (CRI)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4 Early Warning Triggers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Ghost Progress Detection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Clearance Cascade Alert</a:t>
            </a:r>
          </a:p>
        </p:txBody>
      </p:sp>
      <p:sp>
        <p:nvSpPr>
          <p:cNvPr id="15378" name="Right Arrow 15377"/>
          <p:cNvSpPr/>
          <p:nvPr/>
        </p:nvSpPr>
        <p:spPr>
          <a:xfrm>
            <a:off x="931773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9" name="Rounded Rectangle 15378"/>
          <p:cNvSpPr/>
          <p:nvPr/>
        </p:nvSpPr>
        <p:spPr>
          <a:xfrm>
            <a:off x="950976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0" name="Rounded Rectangle 15379"/>
          <p:cNvSpPr/>
          <p:nvPr/>
        </p:nvSpPr>
        <p:spPr>
          <a:xfrm>
            <a:off x="9546336" y="1271016"/>
            <a:ext cx="1938528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5. Actionable Delivery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958291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Interactive Web Dashboard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What-If Scenario Simulator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LLM Cabinet Briefings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Prescriptive Remedies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67360" y="3664748"/>
            <a:ext cx="3566160" cy="2606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rPr sz="1400" dirty="0"/>
              <a:t>Detailed Explanation of Proposed Solution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Transforms </a:t>
            </a:r>
            <a:r>
              <a:rPr sz="1200" dirty="0" err="1"/>
              <a:t>MoSPI</a:t>
            </a:r>
            <a:r>
              <a:rPr sz="1200" dirty="0"/>
              <a:t> infrastructure monitoring from descriptive reports into an autonomous predictive &amp; prescriptive system.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Deploys dual machine learning regressors to forecast cost escalations and schedule delays 6-12 months in advance.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Calculates a Composite Risk Index (CRI 0-100) assigning dynamic Red/Amber/Green status across all 1,981 central projects.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4279392" y="3657600"/>
            <a:ext cx="3566160" cy="2606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rPr sz="1400" dirty="0"/>
              <a:t>How It Addresses The Problem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Detects 'Ghost Progress' when financial spending outpaces verified physical progress by &gt;1.65x.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Preempts Stage-II Forest Clearance and Land Acquisition bottlenecks before critical path milestones stall.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Simulates What-If interventions (e.g. +6 </a:t>
            </a:r>
            <a:r>
              <a:rPr sz="1400" dirty="0" err="1"/>
              <a:t>mo</a:t>
            </a:r>
            <a:r>
              <a:rPr sz="1400" dirty="0"/>
              <a:t> land delay, +15% steel inflation) so ministers can stress-test capex before sanctioning</a:t>
            </a:r>
            <a:r>
              <a:rPr dirty="0"/>
              <a:t>.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010144" y="3657600"/>
            <a:ext cx="3566160" cy="2606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rPr sz="1400" dirty="0"/>
              <a:t>Innovation &amp; Uniqueness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Proves AI superiority: Achieves +22.4% higher variance explained (R²) and +0.12 ROC-AUC over classical linear regressions.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Evidence-based CUF reform: Demonstrates +16.8% variance uplift by adding 4 high-ROI fields to PAIMANA-CRIP.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LLM Copilot: Instant ministerial executive briefings with targeted administrative escalation pathways.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" y="1164970"/>
            <a:ext cx="7010399" cy="505295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7726679" y="1143000"/>
            <a:ext cx="38862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t>TECHNOLOGY STACK &amp; OPEN TOOLS</a:t>
            </a:r>
          </a:p>
        </p:txBody>
      </p:sp>
      <p:pic>
        <p:nvPicPr>
          <p:cNvPr id="17413" name="Picture 17412" descr="python_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737360"/>
            <a:ext cx="1371600" cy="428625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281160" y="169163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Python 3.14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Core data science &amp; ML runtime</a:t>
            </a:r>
          </a:p>
        </p:txBody>
      </p:sp>
      <p:pic>
        <p:nvPicPr>
          <p:cNvPr id="17415" name="Picture 17414" descr="scikit_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487168"/>
            <a:ext cx="1371600" cy="428625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9281160" y="24414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Scikit-Learn 1.9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HistGradientBoosting, RF &amp; Linear GLMs</a:t>
            </a:r>
          </a:p>
        </p:txBody>
      </p:sp>
      <p:pic>
        <p:nvPicPr>
          <p:cNvPr id="17417" name="Picture 17416" descr="fastapi_ba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2200" y="3106043"/>
            <a:ext cx="1371600" cy="428625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9281160" y="319125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FastAPI 0.141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High-concurrency ASGI REST engine</a:t>
            </a:r>
          </a:p>
        </p:txBody>
      </p:sp>
      <p:pic>
        <p:nvPicPr>
          <p:cNvPr id="17419" name="Picture 17418" descr="pandas_bad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3986783"/>
            <a:ext cx="1371600" cy="428625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281160" y="394106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Pandas &amp; NumPy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Data manipulation &amp; ratio derivations</a:t>
            </a:r>
          </a:p>
        </p:txBody>
      </p:sp>
      <p:pic>
        <p:nvPicPr>
          <p:cNvPr id="17421" name="Picture 17420" descr="tailwind_bad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4736592"/>
            <a:ext cx="1371600" cy="428625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9281160" y="46908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Tailwind &amp; Chart.js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Modern responsive UI &amp; interactive charts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818120" y="5577840"/>
            <a:ext cx="365760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100% Open Source | Zero Licensing Fees | Runs on 2 vCPUs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7AF8FEA-3651-70F0-6730-88FD29A332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3824" y="188089"/>
            <a:ext cx="135678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latin typeface="New times"/>
              </a:rPr>
              <a:t>VigilEye</a:t>
            </a:r>
            <a:endParaRPr b="1" dirty="0">
              <a:solidFill>
                <a:schemeClr val="tx1"/>
              </a:solidFill>
              <a:latin typeface="New tim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539496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t>SCIENTIFIC BENCHMARKING (DIMENSIONS b &amp; c)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Dimension (b): AI/ML vs. Classical Statistical Methods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Cost Overrun Regression Benchmark (Identical 1,981 Splits):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OLS Linear Regression: RMSE = 6.42% | R² = 0.718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Ridge Regression (L2 GLM): RMSE = 6.39% | R² = 0.722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HistGradientBoosting (AI): RMSE = 4.88% | R² = 0.879 (+22.4% gain in R²)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Severe Overrun Risk Classification (&gt;20% Overrun Threshold):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Logistic Regression: Accuracy = 81.2% | ROC-AUC = 0.792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HistGradientBoosting (AI): Accuracy = 89.6% | ROC-AUC = 0.912 (+0.120 gain)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Why AI Wins: Infrastructure bottlenecks compound non-linearly (land delays + monsoon seasonality = exponential delay). Tree models capture threshold interactions precisely.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Dimension (c): CUF Attribution Study &amp; Policy Proposals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Controlled Ablation Study (Current CUF vs. Enhanced CUF):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Regime A (Current CUF Only): R² = 0.752 | ROC-AUC = 0.841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Regime B (Enhanced with 4 Fields): R² = 0.879 | ROC-AUC = 0.912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Finding: 4 non-CUF variables contribute an indispensable +16.8% variance lift!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Concrete Policy Proposals for MoSPI DIID Schema Revision: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1. Contractor Delivery Rating (0-100) | 2. Terrain Difficulty Index (1-4)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3. Commodity WPI Inflation Factor | 4. Inter-Agency Coordination Nodes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0" y="1188720"/>
            <a:ext cx="54864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FEASIBILITY, RISKS &amp; MITIGATION STRATEGIES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Technical &amp; Operational Feasibility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Sub-Millisecond Speed: Model inference runs in &lt;5ms per project; entire 1,981 project portfolio evaluated in &lt;10 seconds.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Minimal Hardware Footprint: Runs effortlessly on standard National Informatics Centre (NIC) virtual machines (2 vCPU, 4GB RAM) with zero GPU requirement.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Plug-and-Play Ingestion: Ingests existing monthly PAIMANA-CRIP Excel and CSV flash reports without altering legacy database tables.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Potential Challenges &amp; Risks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Risk 1: Incomplete or Inconsistent Ground Reporting across 17 line ministries.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Risk 2: Optimistic Reporting Bias by executing agencies to avoid RED flags.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Risk 3: Dynamic Macro Volatility (unforeseen geopolitical price shocks in steel/fuel).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Mitigation Strategies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Mitigation 1 (Schema Validation): Pydantic validation handles missing data and imputes sector medians automatically.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Mitigation 2 (Ghost Progress Trigger): Autonomous alert flags when financial spend sprints &gt;1.65x ahead of verified physical progress, triggering third-party technical audits.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Mitigation 3 (Scenario Simulator): Interactive What-If simulator allows administrators to stress-test ±30% inflation shocks in real time.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6F2B9903-1385-C952-C1E4-AA1DD953F0B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3824" y="188089"/>
            <a:ext cx="135678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latin typeface="New times"/>
              </a:rPr>
              <a:t>VigilEye</a:t>
            </a:r>
            <a:endParaRPr b="1" dirty="0">
              <a:solidFill>
                <a:schemeClr val="tx1"/>
              </a:solidFill>
              <a:latin typeface="New time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35661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E06D14"/>
                </a:solidFill>
                <a:latin typeface="Arial"/>
              </a:defRPr>
            </a:pPr>
            <a:r>
              <a:t>₹42,780+ Crore Public Capex Savings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Total Monitored Portfolio: ₹42.78 Lakh Crore in revised outlays across 1,981 projects.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Fiscal Dividend: Preventing even 1% of cost overruns saves over ₹42,780 Crore in public taxpayers' money.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Budget Planning: Enables Department of Expenditure (Ministry of Finance) to anticipate Revised Cost Estimates (RCEs) quarters before formal claims are submitted.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79392" y="1188720"/>
            <a:ext cx="35661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t>6 to 9 Months Accelerated Commissioning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Proactive Resolution: Early warning triggers detect statutory clearance and utility hurdles 6-12 months before construction stalls.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Logistics Dividends: Faster operationalization of Dedicated Freight Corridors (DFCs), expressways, and power transmission grids.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Economic Boost: Directly lowers national logistics transport costs toward India's target of 8% of GDP.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10144" y="1188720"/>
            <a:ext cx="35661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59669"/>
                </a:solidFill>
                <a:latin typeface="Arial"/>
              </a:defRPr>
            </a:pPr>
            <a:r>
              <a:t>Institutional Alignment &amp; Data-Driven Governance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PRAGATI &amp; Cabinet Reviews: Arms the PMO and Cabinet Secretary with verified root-cause driver dossiers for high-level monitoring.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PM Gati Shakti Convergence: Connects project execution timelines with geospatial clearance tracking layers.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Executing Agency Accountability: Generates transparent efficiency rankings across NHAI, RVNL, NTPC, and ONGC.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4709160"/>
            <a:ext cx="1103315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REAL-WORLD ADMINISTRATIVE USE CASES POWERED BY PAIMANA-AI: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1. Cabinet Committee on Economic Affairs (CCEA): Uses What-If Scenario Simulator to stress-test budget escalations before sanctioning revised estimates.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2. Project Directors &amp; Chief Engineers: Monitor live Early Warning Desk alerts to prevent 'Ghost Progress' contractor advance leaks.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3. State Chief Secretaries: Receive automated Stage-II Forest &amp; RFCTLARR Land Acquisition escalation dossiers for prompt district-level clearances.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24D4D59-CAB8-2E2D-C201-37612B329D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3824" y="188089"/>
            <a:ext cx="135678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latin typeface="New times"/>
              </a:rPr>
              <a:t>VigilEye</a:t>
            </a:r>
            <a:endParaRPr b="1" dirty="0">
              <a:solidFill>
                <a:schemeClr val="tx1"/>
              </a:solidFill>
              <a:latin typeface="New times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539496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GENUINE GOVERNMENT PORTALS &amp; DATASETS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1. MoSPI PAIMANA Portal (Official Report Page)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https://paimana-proj.mospi.gov.in/ReportPage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National repository tracking 1,981 central sector projects costing ₹150 Cr and above across 17 Central Ministries.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2. MoSPI Infrastructure &amp; Project Monitoring Division (IPMD)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https://www.ipm.mospi.gov.in/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Primary repository of monthly Flash Reports, approved costs, cumulative expenditures, and delay factors.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3. PAIMANA-CRIP (Central Repository of Infrastructure Projects)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https://paimana-crip.mospi.gov.in/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Underlying data input layer and API integration interface for line ministries launched in 2025/2026.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4. DPIIT — PM Gati Shakti National Master Plan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https://gatishakti.gov.in/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Geospatial data integration and inter-ministerial infrastructure planning portal.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5. MoEFCC PARIVESH Portal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https://parivesh.nic.in/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Single-window clearance tracking system for forest, environment, and wildlife statutory clearances.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0" y="1188720"/>
            <a:ext cx="54864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t>STATUTORY ACTS &amp; ACADEMIC RESEARCH PAPERS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1. MoSPI Monthly Flash Report on Central Sector Projects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Published by IPMD, Ministry of Statistics and Programme Implementation, Government of India (April 2026 Edition). Covers 1,981 projects, ₹42.78 Lakh Cr revised outlay.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2. Right to Fair Compensation and Transparency in Land Acquisition, Rehabilitation and Resettlement Act, 2013 (RFCTLARR)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Ministry of Law and Justice, Government of India. Statutory framework governing land compensation and possession.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3. NITI Aayog: Infrastructure Project Management &amp; Risk Mitigation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National Institution for Transforming India (NITI Aayog) — Strategy paper on curbing cost and time overruns in central public sector enterprises.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4. Flyvbjerg, B. et al. (Oxford University)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What You Should Know About Megaprojects and Why: An Overview. Project Management Journal. Key theoretical framework on infrastructure cost escalation distributions.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5. Open-Source AI/ML Foundations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Pedregosa et al., Scikit-learn: Machine Learning in Python, JMLR (2011); Tiangolo, FastAPI Asynchronous Web Framework (2018).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4F7E8E85-F48B-27BD-09A8-5944CF9129B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3824" y="188089"/>
            <a:ext cx="135678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latin typeface="New times"/>
              </a:rPr>
              <a:t>VigilEye</a:t>
            </a:r>
            <a:endParaRPr b="1" dirty="0">
              <a:solidFill>
                <a:schemeClr val="tx1"/>
              </a:solidFill>
              <a:latin typeface="New time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7509</TotalTime>
  <Words>1627</Words>
  <Application>Microsoft Office PowerPoint</Application>
  <PresentationFormat>Widescreen</PresentationFormat>
  <Paragraphs>163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New times</vt:lpstr>
      <vt:lpstr>Times New Roman</vt:lpstr>
      <vt:lpstr>TradeGothic</vt:lpstr>
      <vt:lpstr>Wingdings</vt:lpstr>
      <vt:lpstr>Office Theme</vt:lpstr>
      <vt:lpstr>SMART INDIA HACKATHON 2026</vt:lpstr>
      <vt:lpstr>PROPOSED SOLUTION: PAIMANA-AI ECOSYSTEM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sabajamadar27@outlook.com</cp:lastModifiedBy>
  <cp:revision>149</cp:revision>
  <dcterms:created xsi:type="dcterms:W3CDTF">2013-12-12T18:46:50Z</dcterms:created>
  <dcterms:modified xsi:type="dcterms:W3CDTF">2026-10-01T12:28:37Z</dcterms:modified>
  <cp:category/>
</cp:coreProperties>
</file>